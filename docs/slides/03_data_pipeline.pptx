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42000"/>
            <a:ext cx="111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2B2A28"/>
                </a:solidFill>
                <a:latin typeface="맑은 고딕"/>
              </a:rPr>
              <a:t>데이터 파이프라인 — 원천에서 3D 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56000"/>
            <a:ext cx="11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797672"/>
                </a:solidFill>
                <a:latin typeface="맑은 고딕"/>
              </a:rPr>
              <a:t>실측 4종이 들어가 하나의 스냅샷 스트림으로 나오고, 그림은 그 스트림만 읽는다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1440000"/>
            <a:ext cx="2628000" cy="3708000"/>
          </a:xfrm>
          <a:prstGeom prst="roundRect">
            <a:avLst>
              <a:gd name="adj" fmla="val 5000"/>
            </a:avLst>
          </a:prstGeom>
          <a:solidFill>
            <a:srgbClr val="FBEEEC"/>
          </a:solidFill>
          <a:ln w="15875">
            <a:solidFill>
              <a:srgbClr val="C45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8000" y="1565999"/>
            <a:ext cx="230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45646"/>
                </a:solidFill>
                <a:latin typeface="맑은 고딕"/>
              </a:rPr>
              <a:t>① 원천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000" y="1890000"/>
            <a:ext cx="2304000" cy="6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19692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VDS 센서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2170800"/>
            <a:ext cx="2051999" cy="3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교통량·속도 각 63,360행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설 10일 + 평시 10일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8000" y="26676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27468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TCS 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" y="29484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영업소 42곳 통행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8000" y="32940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000" y="33732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도로중심선 · 표준노드링크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000" y="35748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4,226점 · 차로수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000" y="39204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000" y="39996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환경부 충전이력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" y="42012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11,405건 / 29개소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000" y="45468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000" y="46260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충전기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" y="48276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휴게소 35곳 · 282기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4000" y="3294000"/>
            <a:ext cx="342000" cy="0"/>
          </a:xfrm>
          <a:prstGeom prst="bentConnector3">
            <a:avLst/>
          </a:prstGeom>
          <a:ln w="22225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46000" y="1440000"/>
            <a:ext cx="2628000" cy="3708000"/>
          </a:xfrm>
          <a:prstGeom prst="roundRect">
            <a:avLst>
              <a:gd name="adj" fmla="val 5000"/>
            </a:avLst>
          </a:prstGeom>
          <a:solidFill>
            <a:srgbClr val="FBF4E6"/>
          </a:solidFill>
          <a:ln w="15875">
            <a:solidFill>
              <a:srgbClr val="A87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7999" y="1565999"/>
            <a:ext cx="230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8721E"/>
                </a:solidFill>
                <a:latin typeface="맑은 고딕"/>
              </a:rPr>
              <a:t>② 가공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7999" y="18900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34000" y="19692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build_traffic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34000" y="21708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conzone 격자 · 결측 54,523 / 8,825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7999" y="25164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4000" y="25956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build_demand_profile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34000" y="27972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시간대 진입량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7999" y="31428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34000" y="32220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build_entry_exit_profile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34000" y="34236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중간 진입·진출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7999" y="37692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34000" y="38484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load_centerline · build_route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34000" y="40500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415.058km · 휴게소 offset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07999" y="43956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34000" y="44748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seed_cells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34000" y="46764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CTM 셀 792개 (방향당 396)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73999" y="3294000"/>
            <a:ext cx="342001" cy="0"/>
          </a:xfrm>
          <a:prstGeom prst="bentConnector3">
            <a:avLst/>
          </a:prstGeom>
          <a:ln w="22225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516000" y="1440000"/>
            <a:ext cx="2628000" cy="3708000"/>
          </a:xfrm>
          <a:prstGeom prst="roundRect">
            <a:avLst>
              <a:gd name="adj" fmla="val 5000"/>
            </a:avLst>
          </a:prstGeom>
          <a:solidFill>
            <a:srgbClr val="ECF5EF"/>
          </a:solidFill>
          <a:ln w="15875">
            <a:solidFill>
              <a:srgbClr val="2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000" y="1565999"/>
            <a:ext cx="230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F7A52"/>
                </a:solidFill>
                <a:latin typeface="맑은 고딕"/>
              </a:rPr>
              <a:t>③ 세계 + 엔진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8000" y="18900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04000" y="19692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synthetic_ev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4000" y="21708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차종 5종 · SoC · EV 5%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8000" y="25164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04000" y="25956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run_corridor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04000" y="27972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Δt 5분 · 큐 규칙 · 충전 물리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8000" y="31428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04000" y="32220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S0 / S1 / S2 / S3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4000" y="34236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원장 · 예측 · 동시 결정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78000" y="37692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04000" y="38484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04000" y="40500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참고 천장 (반복 균형)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144000" y="3294000"/>
            <a:ext cx="342000" cy="0"/>
          </a:xfrm>
          <a:prstGeom prst="bentConnector3">
            <a:avLst/>
          </a:prstGeom>
          <a:ln w="22225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486000" y="1440000"/>
            <a:ext cx="2628000" cy="3708000"/>
          </a:xfrm>
          <a:prstGeom prst="roundRect">
            <a:avLst>
              <a:gd name="adj" fmla="val 5000"/>
            </a:avLst>
          </a:prstGeom>
          <a:solidFill>
            <a:srgbClr val="ECF2FB"/>
          </a:solidFill>
          <a:ln w="1587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48000" y="1565999"/>
            <a:ext cx="230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C5CAB"/>
                </a:solidFill>
                <a:latin typeface="맑은 고딕"/>
              </a:rPr>
              <a:t>④ 기록 → 그림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48000" y="18900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74000" y="19692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charge_event · escape_event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74000" y="21708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대기 · 종료시각 · 이탈 사유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48000" y="2516400"/>
            <a:ext cx="2304000" cy="6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74000" y="25956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snapshot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74000" y="2797200"/>
            <a:ext cx="2051999" cy="3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5분 × 휴게소 × 4상태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위경도를 같이 나른다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48000" y="32940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74000" y="33732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plot_ladder · plot_station_bars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74000" y="3574800"/>
            <a:ext cx="2051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2D 히트맵 · 휴게소별 막대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48000" y="3920400"/>
            <a:ext cx="2304000" cy="6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74000" y="3999600"/>
            <a:ext cx="20519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plot_map3d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74000" y="4201200"/>
            <a:ext cx="2051999" cy="3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deck.gl 단일 HTML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API 키 없음 · 빌드 없음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00" y="5364000"/>
            <a:ext cx="36000" cy="792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6000" y="5346000"/>
            <a:ext cx="108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2B2A28"/>
                </a:solidFill>
                <a:latin typeface="맑은 고딕"/>
              </a:rPr>
              <a:t>원천 데이터는 저장소에 없다 — **코드가 재생성한다.** 그래서 두 PC 의 수집본 이름이 달라도 가공 결과가 같다 (94개 검사로 확인)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2B2A28"/>
                </a:solidFill>
                <a:latin typeface="맑은 고딕"/>
              </a:rPr>
              <a:t>그림은 ④ 의 스냅샷 스트림만 읽는다. **엔진을 임포트하면 테스트가 막는다**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6000" y="6390000"/>
            <a:ext cx="11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data/raw · data/processed 는 Git 비추적 · 스크립트로 재생성 · run_id 가 세계를 식별하지 못하므로 params_json 으로 검사한다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