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90" y="1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00" y="342000"/>
            <a:ext cx="11160000" cy="416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dirty="0" err="1">
                <a:solidFill>
                  <a:srgbClr val="2B2A28"/>
                </a:solidFill>
                <a:latin typeface="맑은 고딕"/>
              </a:rPr>
              <a:t>시스템</a:t>
            </a:r>
            <a:r>
              <a:rPr sz="2500" b="1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B2A28"/>
                </a:solidFill>
                <a:latin typeface="맑은 고딕"/>
              </a:rPr>
              <a:t>아키텍처</a:t>
            </a:r>
            <a:endParaRPr sz="2500" b="1" dirty="0">
              <a:solidFill>
                <a:srgbClr val="2B2A28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6000" y="873000"/>
            <a:ext cx="11160000" cy="208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dirty="0" err="1">
                <a:solidFill>
                  <a:srgbClr val="797672"/>
                </a:solidFill>
                <a:latin typeface="맑은 고딕"/>
              </a:rPr>
              <a:t>엔진은</a:t>
            </a:r>
            <a:r>
              <a:rPr sz="125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797672"/>
                </a:solidFill>
                <a:latin typeface="맑은 고딕"/>
              </a:rPr>
              <a:t>세계를</a:t>
            </a:r>
            <a:r>
              <a:rPr sz="125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797672"/>
                </a:solidFill>
                <a:latin typeface="맑은 고딕"/>
              </a:rPr>
              <a:t>바꿀</a:t>
            </a:r>
            <a:r>
              <a:rPr sz="1250" b="0" dirty="0">
                <a:solidFill>
                  <a:srgbClr val="797672"/>
                </a:solidFill>
                <a:latin typeface="맑은 고딕"/>
              </a:rPr>
              <a:t> 수 </a:t>
            </a:r>
            <a:r>
              <a:rPr sz="1250" b="0" dirty="0" err="1">
                <a:solidFill>
                  <a:srgbClr val="797672"/>
                </a:solidFill>
                <a:latin typeface="맑은 고딕"/>
              </a:rPr>
              <a:t>없고</a:t>
            </a:r>
            <a:r>
              <a:rPr sz="1250" b="0" dirty="0">
                <a:solidFill>
                  <a:srgbClr val="797672"/>
                </a:solidFill>
                <a:latin typeface="맑은 고딕"/>
              </a:rPr>
              <a:t>, </a:t>
            </a:r>
            <a:r>
              <a:rPr sz="1250" b="0" dirty="0" err="1">
                <a:solidFill>
                  <a:srgbClr val="797672"/>
                </a:solidFill>
                <a:latin typeface="맑은 고딕"/>
              </a:rPr>
              <a:t>세계는</a:t>
            </a:r>
            <a:r>
              <a:rPr sz="125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797672"/>
                </a:solidFill>
                <a:latin typeface="맑은 고딕"/>
              </a:rPr>
              <a:t>어느</a:t>
            </a:r>
            <a:r>
              <a:rPr sz="125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797672"/>
                </a:solidFill>
                <a:latin typeface="맑은 고딕"/>
              </a:rPr>
              <a:t>엔진이</a:t>
            </a:r>
            <a:r>
              <a:rPr sz="125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797672"/>
                </a:solidFill>
                <a:latin typeface="맑은 고딕"/>
              </a:rPr>
              <a:t>도는지</a:t>
            </a:r>
            <a:r>
              <a:rPr sz="125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797672"/>
                </a:solidFill>
                <a:latin typeface="맑은 고딕"/>
              </a:rPr>
              <a:t>모른다</a:t>
            </a:r>
            <a:r>
              <a:rPr sz="1250" b="0" dirty="0">
                <a:solidFill>
                  <a:srgbClr val="797672"/>
                </a:solidFill>
                <a:latin typeface="맑은 고딕"/>
              </a:rPr>
              <a:t>.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00" y="1404000"/>
            <a:ext cx="5256000" cy="1458000"/>
          </a:xfrm>
          <a:prstGeom prst="roundRect">
            <a:avLst>
              <a:gd name="adj" fmla="val 5000"/>
            </a:avLst>
          </a:prstGeom>
          <a:solidFill>
            <a:srgbClr val="ECF5EF"/>
          </a:solidFill>
          <a:ln w="15875">
            <a:solidFill>
              <a:srgbClr val="2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6000" y="1512000"/>
            <a:ext cx="4896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F7A52"/>
                </a:solidFill>
                <a:latin typeface="맑은 고딕"/>
              </a:rPr>
              <a:t>①  세계   world/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800000"/>
            <a:ext cx="4896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2B2A28"/>
                </a:solidFill>
                <a:latin typeface="맑은 고딕"/>
              </a:rPr>
              <a:t>코리도 시뮬레이터 · 충전 큐 규칙 · 충전 물리(곡선·온도) · CTM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2B2A28"/>
                </a:solidFill>
                <a:latin typeface="맑은 고딕"/>
              </a:rPr>
              <a:t>Δt 5분마다 “지금 화면” 을 만들어 엔진에게 보여준다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2B2A28"/>
                </a:solidFill>
                <a:latin typeface="맑은 고딕"/>
              </a:rPr>
              <a:t>⚠ 엔진이 무엇인지 모른다 — 답만 받아서 그대로 실행한다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72000" y="1404000"/>
            <a:ext cx="5256000" cy="1458000"/>
          </a:xfrm>
          <a:prstGeom prst="roundRect">
            <a:avLst>
              <a:gd name="adj" fmla="val 5000"/>
            </a:avLst>
          </a:prstGeom>
          <a:solidFill>
            <a:srgbClr val="ECF2FB"/>
          </a:solidFill>
          <a:ln w="15875">
            <a:solidFill>
              <a:srgbClr val="1C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2000" y="1512000"/>
            <a:ext cx="4896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C5CAB"/>
                </a:solidFill>
                <a:latin typeface="맑은 고딕"/>
              </a:rPr>
              <a:t>②  엔진   engine/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2000" y="1800000"/>
            <a:ext cx="4896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2B2A28"/>
                </a:solidFill>
                <a:latin typeface="맑은 고딕"/>
              </a:rPr>
              <a:t>S0 → S1 → S2 → S3  ·  예약원장  ·  예측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2B2A28"/>
                </a:solidFill>
                <a:latin typeface="맑은 고딕"/>
              </a:rPr>
              <a:t>“이 차를 어느 휴게소로” 하나만 답한다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2B2A28"/>
                </a:solidFill>
                <a:latin typeface="맑은 고딕"/>
              </a:rPr>
              <a:t>⚠ 세계를 못 바꾼다 — 원장에 쓰는 것이 유일한 부작용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32000" y="1944000"/>
            <a:ext cx="540000" cy="0"/>
          </a:xfrm>
          <a:prstGeom prst="bentConnector3">
            <a:avLst/>
          </a:prstGeom>
          <a:ln w="19050">
            <a:solidFill>
              <a:srgbClr val="2F7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16000" y="1745999"/>
            <a:ext cx="15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2F7A52"/>
                </a:solidFill>
                <a:latin typeface="맑은 고딕"/>
              </a:rPr>
              <a:t>화면 + 원장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832000" y="2340000"/>
            <a:ext cx="540000" cy="0"/>
          </a:xfrm>
          <a:prstGeom prst="bentConnector3">
            <a:avLst/>
          </a:prstGeom>
          <a:ln w="19050">
            <a:solidFill>
              <a:srgbClr val="1C5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16000" y="2358000"/>
            <a:ext cx="15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1C5CAB"/>
                </a:solidFill>
                <a:latin typeface="맑은 고딕"/>
              </a:rPr>
              <a:t>배정 answer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3167999"/>
            <a:ext cx="11052000" cy="1458000"/>
          </a:xfrm>
          <a:prstGeom prst="roundRect">
            <a:avLst>
              <a:gd name="adj" fmla="val 5000"/>
            </a:avLst>
          </a:prstGeom>
          <a:solidFill>
            <a:srgbClr val="FBF4E6"/>
          </a:solidFill>
          <a:ln w="15875">
            <a:solidFill>
              <a:srgbClr val="A87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000" y="3276000"/>
            <a:ext cx="10692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8721E"/>
                </a:solidFill>
                <a:latin typeface="맑은 고딕"/>
              </a:rPr>
              <a:t>③  기록   runs/&lt;run_id&gt;/*.parquet  + 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000" y="3581999"/>
            <a:ext cx="2511000" cy="91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000" y="3689999"/>
            <a:ext cx="2259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721E"/>
                </a:solidFill>
                <a:latin typeface="맑은 고딕"/>
              </a:rPr>
              <a:t>charge_event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000" y="3960000"/>
            <a:ext cx="2259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누가·어디서·언제·얼마나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대기 / 충전 / 종료시각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82999" y="3581999"/>
            <a:ext cx="2511000" cy="91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08999" y="3689999"/>
            <a:ext cx="2259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721E"/>
                </a:solidFill>
                <a:latin typeface="맑은 고딕"/>
              </a:rPr>
              <a:t>escape_event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8999" y="3960000"/>
            <a:ext cx="2259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나간 차와 그 이유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balked / no_plan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0000" y="3581999"/>
            <a:ext cx="2511000" cy="91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000" y="3689999"/>
            <a:ext cx="2259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721E"/>
                </a:solidFill>
                <a:latin typeface="맑은 고딕"/>
              </a:rPr>
              <a:t>snapshot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000" y="3960000"/>
            <a:ext cx="2259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5분마다 모든 휴게소 상태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위경도를 같이 나른다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7000" y="3581999"/>
            <a:ext cx="2511000" cy="91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63000" y="3689999"/>
            <a:ext cx="2259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721E"/>
                </a:solidFill>
                <a:latin typeface="맑은 고딕"/>
              </a:rPr>
              <a:t>run · run_kpi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3000" y="3960000"/>
            <a:ext cx="2259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params_json 으로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“같은 세계인가” 를 검사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00" y="4932000"/>
            <a:ext cx="11052000" cy="1242000"/>
          </a:xfrm>
          <a:prstGeom prst="roundRect">
            <a:avLst>
              <a:gd name="adj" fmla="val 5000"/>
            </a:avLst>
          </a:prstGeom>
          <a:solidFill>
            <a:srgbClr val="ECF2FB"/>
          </a:solidFill>
          <a:ln w="15875">
            <a:solidFill>
              <a:srgbClr val="398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6000" y="5040000"/>
            <a:ext cx="10692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987E5"/>
                </a:solidFill>
                <a:latin typeface="맑은 고딕"/>
              </a:rPr>
              <a:t>④  관측   viz/ · scripts/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000" y="5328000"/>
            <a:ext cx="10692000" cy="476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2B2A28"/>
                </a:solidFill>
                <a:latin typeface="맑은 고딕"/>
              </a:rPr>
              <a:t>2D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히트맵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 ·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휴게소별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막대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 · 3D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코리도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(deck.gl)  — 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스냅샷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스트림만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읽는다</a:t>
            </a:r>
            <a:endParaRPr sz="1100" b="0" dirty="0">
              <a:solidFill>
                <a:srgbClr val="2B2A28"/>
              </a:solidFill>
              <a:latin typeface="맑은 고딕"/>
            </a:endParaRP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2B2A28"/>
                </a:solidFill>
                <a:latin typeface="맑은 고딕"/>
              </a:rPr>
              <a:t>⚠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뷰어는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엔진을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임포트할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 수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없다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.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문서가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아니라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 AST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테스트가</a:t>
            </a:r>
            <a:r>
              <a:rPr sz="110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2B2A28"/>
                </a:solidFill>
                <a:latin typeface="맑은 고딕"/>
              </a:rPr>
              <a:t>막는다</a:t>
            </a:r>
            <a:endParaRPr sz="1100" b="0" dirty="0">
              <a:solidFill>
                <a:srgbClr val="2B2A28"/>
              </a:solidFill>
              <a:latin typeface="맑은 고딕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083999" y="2861999"/>
            <a:ext cx="0" cy="306000"/>
          </a:xfrm>
          <a:prstGeom prst="bentConnector3">
            <a:avLst/>
          </a:prstGeom>
          <a:ln w="19050">
            <a:solidFill>
              <a:srgbClr val="79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83999" y="4625999"/>
            <a:ext cx="0" cy="306001"/>
          </a:xfrm>
          <a:prstGeom prst="bentConnector3">
            <a:avLst/>
          </a:prstGeom>
          <a:ln w="19050">
            <a:solidFill>
              <a:srgbClr val="79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</Words>
  <Application>Microsoft Office PowerPoint</Application>
  <PresentationFormat>사용자 지정</PresentationFormat>
  <Paragraphs>28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임상준</cp:lastModifiedBy>
  <cp:revision>2</cp:revision>
  <dcterms:created xsi:type="dcterms:W3CDTF">2013-01-27T09:14:16Z</dcterms:created>
  <dcterms:modified xsi:type="dcterms:W3CDTF">2026-10-28T15:29:41Z</dcterms:modified>
  <cp:category/>
</cp:coreProperties>
</file>