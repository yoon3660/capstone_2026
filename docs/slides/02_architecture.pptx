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32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342000"/>
            <a:ext cx="11160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>
                <a:solidFill>
                  <a:srgbClr val="2B2A28"/>
                </a:solidFill>
                <a:latin typeface="맑은 고딕"/>
              </a:rPr>
              <a:t>시스템 아키텍처 — 세계와 엔진을 갈라 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00" y="756000"/>
            <a:ext cx="1116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797672"/>
                </a:solidFill>
                <a:latin typeface="맑은 고딕"/>
              </a:rPr>
              <a:t>엔진은 세계를 바꿀 수 없고, 세계는 어느 엔진이 도는지 모른다. 그래야 “무엇이 효과를 냈나” 를 말할 수 있다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76000" y="1404000"/>
            <a:ext cx="5256000" cy="1458000"/>
          </a:xfrm>
          <a:prstGeom prst="roundRect">
            <a:avLst>
              <a:gd name="adj" fmla="val 5000"/>
            </a:avLst>
          </a:prstGeom>
          <a:solidFill>
            <a:srgbClr val="ECF5EF"/>
          </a:solidFill>
          <a:ln w="15875">
            <a:solidFill>
              <a:srgbClr val="2F7A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56000" y="1512000"/>
            <a:ext cx="4896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2F7A52"/>
                </a:solidFill>
                <a:latin typeface="맑은 고딕"/>
              </a:rPr>
              <a:t>①  세계   world/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6000" y="1800000"/>
            <a:ext cx="4896000" cy="9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2B2A28"/>
                </a:solidFill>
                <a:latin typeface="맑은 고딕"/>
              </a:rPr>
              <a:t>코리도 시뮬레이터 · 충전 큐 규칙 · 충전 물리(곡선·온도) · CTM</a:t>
            </a:r>
          </a:p>
          <a:p>
            <a:pPr algn="l">
              <a:lnSpc>
                <a:spcPct val="150000"/>
              </a:lnSpc>
            </a:pPr>
            <a:r>
              <a:rPr sz="1100" b="0">
                <a:solidFill>
                  <a:srgbClr val="2B2A28"/>
                </a:solidFill>
                <a:latin typeface="맑은 고딕"/>
              </a:rPr>
              <a:t>Δt 5분마다 “지금 화면” 을 만들어 엔진에게 보여준다</a:t>
            </a:r>
          </a:p>
          <a:p>
            <a:pPr algn="l">
              <a:lnSpc>
                <a:spcPct val="150000"/>
              </a:lnSpc>
            </a:pPr>
            <a:r>
              <a:rPr sz="1100" b="0">
                <a:solidFill>
                  <a:srgbClr val="2B2A28"/>
                </a:solidFill>
                <a:latin typeface="맑은 고딕"/>
              </a:rPr>
              <a:t>⚠ 엔진이 무엇인지 모른다 — 답만 받아서 그대로 실행한다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72000" y="1404000"/>
            <a:ext cx="5256000" cy="1458000"/>
          </a:xfrm>
          <a:prstGeom prst="roundRect">
            <a:avLst>
              <a:gd name="adj" fmla="val 5000"/>
            </a:avLst>
          </a:prstGeom>
          <a:solidFill>
            <a:srgbClr val="ECF2FB"/>
          </a:solidFill>
          <a:ln w="15875">
            <a:solidFill>
              <a:srgbClr val="1C5CA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52000" y="1512000"/>
            <a:ext cx="4896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C5CAB"/>
                </a:solidFill>
                <a:latin typeface="맑은 고딕"/>
              </a:rPr>
              <a:t>②  엔진   engine/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52000" y="1800000"/>
            <a:ext cx="4896000" cy="9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2B2A28"/>
                </a:solidFill>
                <a:latin typeface="맑은 고딕"/>
              </a:rPr>
              <a:t>S0 → S1 → S2 → S3  ·  예약원장  ·  예측</a:t>
            </a:r>
          </a:p>
          <a:p>
            <a:pPr algn="l">
              <a:lnSpc>
                <a:spcPct val="150000"/>
              </a:lnSpc>
            </a:pPr>
            <a:r>
              <a:rPr sz="1100" b="0">
                <a:solidFill>
                  <a:srgbClr val="2B2A28"/>
                </a:solidFill>
                <a:latin typeface="맑은 고딕"/>
              </a:rPr>
              <a:t>“이 차를 어느 휴게소로” 하나만 답한다</a:t>
            </a:r>
          </a:p>
          <a:p>
            <a:pPr algn="l">
              <a:lnSpc>
                <a:spcPct val="150000"/>
              </a:lnSpc>
            </a:pPr>
            <a:r>
              <a:rPr sz="1100" b="0">
                <a:solidFill>
                  <a:srgbClr val="2B2A28"/>
                </a:solidFill>
                <a:latin typeface="맑은 고딕"/>
              </a:rPr>
              <a:t>⚠ 세계를 못 바꾼다 — 원장에 쓰는 것이 유일한 부작용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832000" y="1944000"/>
            <a:ext cx="540000" cy="0"/>
          </a:xfrm>
          <a:prstGeom prst="bentConnector3">
            <a:avLst/>
          </a:prstGeom>
          <a:ln w="19050">
            <a:solidFill>
              <a:srgbClr val="2F7A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616000" y="1745999"/>
            <a:ext cx="1512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950" b="1">
                <a:solidFill>
                  <a:srgbClr val="2F7A52"/>
                </a:solidFill>
                <a:latin typeface="맑은 고딕"/>
              </a:rPr>
              <a:t>화면 + 원장</a:t>
            </a:r>
          </a:p>
        </p:txBody>
      </p:sp>
      <p:cxnSp>
        <p:nvCxnSpPr>
          <p:cNvPr id="12" name="Connector 11"/>
          <p:cNvCxnSpPr/>
          <p:nvPr/>
        </p:nvCxnSpPr>
        <p:spPr>
          <a:xfrm flipH="1">
            <a:off x="5832000" y="2340000"/>
            <a:ext cx="540000" cy="0"/>
          </a:xfrm>
          <a:prstGeom prst="bentConnector3">
            <a:avLst/>
          </a:prstGeom>
          <a:ln w="19050">
            <a:solidFill>
              <a:srgbClr val="1C5CA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616000" y="2358000"/>
            <a:ext cx="1512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950" b="1">
                <a:solidFill>
                  <a:srgbClr val="1C5CAB"/>
                </a:solidFill>
                <a:latin typeface="맑은 고딕"/>
              </a:rPr>
              <a:t>배정 answer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76000" y="3167999"/>
            <a:ext cx="11052000" cy="1458000"/>
          </a:xfrm>
          <a:prstGeom prst="roundRect">
            <a:avLst>
              <a:gd name="adj" fmla="val 5000"/>
            </a:avLst>
          </a:prstGeom>
          <a:solidFill>
            <a:srgbClr val="FBF4E6"/>
          </a:solidFill>
          <a:ln w="15875">
            <a:solidFill>
              <a:srgbClr val="A872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6000" y="3276000"/>
            <a:ext cx="10692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A8721E"/>
                </a:solidFill>
                <a:latin typeface="맑은 고딕"/>
              </a:rPr>
              <a:t>③  기록   runs/&lt;run_id&gt;/*.parquet  +  SQLite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6000" y="3581999"/>
            <a:ext cx="2511000" cy="91799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D9D6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2000" y="3689999"/>
            <a:ext cx="2259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A8721E"/>
                </a:solidFill>
                <a:latin typeface="맑은 고딕"/>
              </a:rPr>
              <a:t>charge_event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2000" y="3960000"/>
            <a:ext cx="2259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797672"/>
                </a:solidFill>
                <a:latin typeface="맑은 고딕"/>
              </a:rPr>
              <a:t>누가·어디서·언제·얼마나</a:t>
            </a:r>
          </a:p>
          <a:p>
            <a:pPr algn="l">
              <a:lnSpc>
                <a:spcPct val="135000"/>
              </a:lnSpc>
            </a:pPr>
            <a:r>
              <a:rPr sz="950" b="0">
                <a:solidFill>
                  <a:srgbClr val="797672"/>
                </a:solidFill>
                <a:latin typeface="맑은 고딕"/>
              </a:rPr>
              <a:t>대기 / 충전 / 종료시각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482999" y="3581999"/>
            <a:ext cx="2511000" cy="91799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D9D6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08999" y="3689999"/>
            <a:ext cx="2259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A8721E"/>
                </a:solidFill>
                <a:latin typeface="맑은 고딕"/>
              </a:rPr>
              <a:t>escape_event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08999" y="3960000"/>
            <a:ext cx="2259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797672"/>
                </a:solidFill>
                <a:latin typeface="맑은 고딕"/>
              </a:rPr>
              <a:t>나간 차와 그 이유</a:t>
            </a:r>
          </a:p>
          <a:p>
            <a:pPr algn="l">
              <a:lnSpc>
                <a:spcPct val="135000"/>
              </a:lnSpc>
            </a:pPr>
            <a:r>
              <a:rPr sz="950" b="0">
                <a:solidFill>
                  <a:srgbClr val="797672"/>
                </a:solidFill>
                <a:latin typeface="맑은 고딕"/>
              </a:rPr>
              <a:t>balked / no_plan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0000" y="3581999"/>
            <a:ext cx="2511000" cy="91799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D9D6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36000" y="3689999"/>
            <a:ext cx="2259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A8721E"/>
                </a:solidFill>
                <a:latin typeface="맑은 고딕"/>
              </a:rPr>
              <a:t>snapshot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36000" y="3960000"/>
            <a:ext cx="2259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797672"/>
                </a:solidFill>
                <a:latin typeface="맑은 고딕"/>
              </a:rPr>
              <a:t>5분마다 모든 휴게소 상태</a:t>
            </a:r>
          </a:p>
          <a:p>
            <a:pPr algn="l">
              <a:lnSpc>
                <a:spcPct val="135000"/>
              </a:lnSpc>
            </a:pPr>
            <a:r>
              <a:rPr sz="950" b="0">
                <a:solidFill>
                  <a:srgbClr val="797672"/>
                </a:solidFill>
                <a:latin typeface="맑은 고딕"/>
              </a:rPr>
              <a:t>위경도를 같이 나른다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37000" y="3581999"/>
            <a:ext cx="2511000" cy="91799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D9D6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63000" y="3689999"/>
            <a:ext cx="2259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A8721E"/>
                </a:solidFill>
                <a:latin typeface="맑은 고딕"/>
              </a:rPr>
              <a:t>run · run_kpi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63000" y="3960000"/>
            <a:ext cx="2259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797672"/>
                </a:solidFill>
                <a:latin typeface="맑은 고딕"/>
              </a:rPr>
              <a:t>params_json 으로</a:t>
            </a:r>
          </a:p>
          <a:p>
            <a:pPr algn="l">
              <a:lnSpc>
                <a:spcPct val="135000"/>
              </a:lnSpc>
            </a:pPr>
            <a:r>
              <a:rPr sz="950" b="0">
                <a:solidFill>
                  <a:srgbClr val="797672"/>
                </a:solidFill>
                <a:latin typeface="맑은 고딕"/>
              </a:rPr>
              <a:t>“같은 세계인가” 를 검사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76000" y="4932000"/>
            <a:ext cx="11052000" cy="1242000"/>
          </a:xfrm>
          <a:prstGeom prst="roundRect">
            <a:avLst>
              <a:gd name="adj" fmla="val 5000"/>
            </a:avLst>
          </a:prstGeom>
          <a:solidFill>
            <a:srgbClr val="ECF2FB"/>
          </a:solidFill>
          <a:ln w="15875">
            <a:solidFill>
              <a:srgbClr val="3987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56000" y="5040000"/>
            <a:ext cx="10692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3987E5"/>
                </a:solidFill>
                <a:latin typeface="맑은 고딕"/>
              </a:rPr>
              <a:t>④  관측   viz/ · scripts/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6000" y="5328000"/>
            <a:ext cx="10692000" cy="79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2B2A28"/>
                </a:solidFill>
                <a:latin typeface="맑은 고딕"/>
              </a:rPr>
              <a:t>2D 히트맵 · 휴게소별 막대 · 3D 코리도(deck.gl)  —  **스냅샷 스트림만 읽는다**</a:t>
            </a:r>
          </a:p>
          <a:p>
            <a:pPr algn="l">
              <a:lnSpc>
                <a:spcPct val="150000"/>
              </a:lnSpc>
            </a:pPr>
            <a:r>
              <a:rPr sz="1100" b="0">
                <a:solidFill>
                  <a:srgbClr val="2B2A28"/>
                </a:solidFill>
                <a:latin typeface="맑은 고딕"/>
              </a:rPr>
              <a:t>⚠ 뷰어는 엔진을 임포트할 수 없다. 문서가 아니라 **AST 테스트가 막는다**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083999" y="2861999"/>
            <a:ext cx="0" cy="306000"/>
          </a:xfrm>
          <a:prstGeom prst="bentConnector3">
            <a:avLst/>
          </a:prstGeom>
          <a:ln w="19050">
            <a:solidFill>
              <a:srgbClr val="79767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6083999" y="4625999"/>
            <a:ext cx="0" cy="306001"/>
          </a:xfrm>
          <a:prstGeom prst="bentConnector3">
            <a:avLst/>
          </a:prstGeom>
          <a:ln w="19050">
            <a:solidFill>
              <a:srgbClr val="79767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576000" y="6300000"/>
            <a:ext cx="36000" cy="540000"/>
          </a:xfrm>
          <a:prstGeom prst="rect">
            <a:avLst/>
          </a:prstGeom>
          <a:solidFill>
            <a:srgbClr val="C456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56000" y="6282000"/>
            <a:ext cx="108000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150" b="1">
                <a:solidFill>
                  <a:srgbClr val="2B2A28"/>
                </a:solidFill>
                <a:latin typeface="맑은 고딕"/>
              </a:rPr>
              <a:t>설계 규칙을 **테스트로 강제한다** — 뷰어↔엔진 임포트 차단(AST) · 큐 규칙 호출자 2곳 제한 · 그림이 KPI 와 다르면 저장 거부 · 문서 수치 회귀 94개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76000" y="6390000"/>
            <a:ext cx="1116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797672"/>
                </a:solidFill>
                <a:latin typeface="맑은 고딕"/>
              </a:rPr>
              <a:t>Python 45k 줄 (src 15.3k · tests 11.3k) · 테스트 699개 · 단일 저장소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