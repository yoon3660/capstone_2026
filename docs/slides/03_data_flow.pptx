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342000"/>
            <a:ext cx="11160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500" b="1">
                <a:solidFill>
                  <a:srgbClr val="2B2A28"/>
                </a:solidFill>
                <a:latin typeface="맑은 고딕"/>
              </a:rPr>
              <a:t>데이터 플로우 — 그 날을 다시 만들고, 배정만 바꿔 본다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00" y="756000"/>
            <a:ext cx="1116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797672"/>
                </a:solidFill>
                <a:latin typeface="맑은 고딕"/>
              </a:rPr>
              <a:t>세계는 고정한다. 바뀌는 것은 “운전자가 무엇을 보고 고르는가” 하나뿐이다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2000" y="1530000"/>
            <a:ext cx="2548800" cy="2664000"/>
          </a:xfrm>
          <a:prstGeom prst="roundRect">
            <a:avLst>
              <a:gd name="adj" fmla="val 5000"/>
            </a:avLst>
          </a:prstGeom>
          <a:solidFill>
            <a:srgbClr val="FBEEEC"/>
          </a:solidFill>
          <a:ln w="15875">
            <a:solidFill>
              <a:srgbClr val="C456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12000" y="1692000"/>
            <a:ext cx="360000" cy="360000"/>
          </a:xfrm>
          <a:prstGeom prst="ellipse">
            <a:avLst/>
          </a:prstGeom>
          <a:solidFill>
            <a:srgbClr val="C45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000" y="1753200"/>
            <a:ext cx="36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2000" y="1728000"/>
            <a:ext cx="17568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C45646"/>
                </a:solidFill>
                <a:latin typeface="맑은 고딕"/>
              </a:rPr>
              <a:t>실측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000" y="2160000"/>
            <a:ext cx="21888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2B2A28"/>
                </a:solidFill>
                <a:latin typeface="맑은 고딕"/>
              </a:rPr>
              <a:t>2026 설 연휴에</a:t>
            </a:r>
          </a:p>
          <a:p>
            <a:pPr algn="l">
              <a:lnSpc>
                <a:spcPct val="140000"/>
              </a:lnSpc>
            </a:pPr>
            <a:r>
              <a:rPr sz="1150" b="0">
                <a:solidFill>
                  <a:srgbClr val="2B2A28"/>
                </a:solidFill>
                <a:latin typeface="맑은 고딕"/>
              </a:rPr>
              <a:t>실제로 있었던 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3200" y="2754000"/>
            <a:ext cx="2246400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797672"/>
                </a:solidFill>
                <a:latin typeface="맑은 고딕"/>
              </a:rPr>
              <a:t>교통량·속도   10일 × 2방향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3200" y="2998800"/>
            <a:ext cx="2246400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797672"/>
                </a:solidFill>
                <a:latin typeface="맑은 고딕"/>
              </a:rPr>
              <a:t>통행 OD   영업소 42곳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3200" y="3243600"/>
            <a:ext cx="2246400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797672"/>
                </a:solidFill>
                <a:latin typeface="맑은 고딕"/>
              </a:rPr>
              <a:t>충전 기록   11,405건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3200" y="3488400"/>
            <a:ext cx="2246400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797672"/>
                </a:solidFill>
                <a:latin typeface="맑은 고딕"/>
              </a:rPr>
              <a:t>충전기   35개소 · 282기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016799" y="2862000"/>
            <a:ext cx="306001" cy="0"/>
          </a:xfrm>
          <a:prstGeom prst="bentConnector3">
            <a:avLst/>
          </a:prstGeom>
          <a:ln w="25400">
            <a:solidFill>
              <a:srgbClr val="7976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358800" y="1530000"/>
            <a:ext cx="2548800" cy="2664000"/>
          </a:xfrm>
          <a:prstGeom prst="roundRect">
            <a:avLst>
              <a:gd name="adj" fmla="val 5000"/>
            </a:avLst>
          </a:prstGeom>
          <a:solidFill>
            <a:srgbClr val="FBF4E6"/>
          </a:solidFill>
          <a:ln w="15875">
            <a:solidFill>
              <a:srgbClr val="A872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8800" y="1692000"/>
            <a:ext cx="360000" cy="360000"/>
          </a:xfrm>
          <a:prstGeom prst="ellipse">
            <a:avLst/>
          </a:prstGeom>
          <a:solidFill>
            <a:srgbClr val="A87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8800" y="1753200"/>
            <a:ext cx="36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88800" y="1728000"/>
            <a:ext cx="17568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A8721E"/>
                </a:solidFill>
                <a:latin typeface="맑은 고딕"/>
              </a:rPr>
              <a:t>재현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800" y="2160000"/>
            <a:ext cx="21888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2B2A28"/>
                </a:solidFill>
                <a:latin typeface="맑은 고딕"/>
              </a:rPr>
              <a:t>같은 날을</a:t>
            </a:r>
          </a:p>
          <a:p>
            <a:pPr algn="l">
              <a:lnSpc>
                <a:spcPct val="140000"/>
              </a:lnSpc>
            </a:pPr>
            <a:r>
              <a:rPr sz="1150" b="0">
                <a:solidFill>
                  <a:srgbClr val="2B2A28"/>
                </a:solidFill>
                <a:latin typeface="맑은 고딕"/>
              </a:rPr>
              <a:t>다시 굴린다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10000" y="2754000"/>
            <a:ext cx="2246400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797672"/>
                </a:solidFill>
                <a:latin typeface="맑은 고딕"/>
              </a:rPr>
              <a:t>경부선 415km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10000" y="2998800"/>
            <a:ext cx="2246400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797672"/>
                </a:solidFill>
                <a:latin typeface="맑은 고딕"/>
              </a:rPr>
              <a:t>휴게소 35곳 · 5분 간격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10000" y="3488400"/>
            <a:ext cx="2246400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>
                <a:solidFill>
                  <a:srgbClr val="2B2A28"/>
                </a:solidFill>
                <a:latin typeface="맑은 고딕"/>
              </a:rPr>
              <a:t>속도 MAPE 14.37%  통과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10000" y="3733199"/>
            <a:ext cx="2246400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>
                <a:solidFill>
                  <a:srgbClr val="2B2A28"/>
                </a:solidFill>
                <a:latin typeface="맑은 고딕"/>
              </a:rPr>
              <a:t>정체 재현  미달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943600" y="2862000"/>
            <a:ext cx="306000" cy="0"/>
          </a:xfrm>
          <a:prstGeom prst="bentConnector3">
            <a:avLst/>
          </a:prstGeom>
          <a:ln w="25400">
            <a:solidFill>
              <a:srgbClr val="7976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285600" y="1530000"/>
            <a:ext cx="2548800" cy="2664000"/>
          </a:xfrm>
          <a:prstGeom prst="roundRect">
            <a:avLst>
              <a:gd name="adj" fmla="val 5000"/>
            </a:avLst>
          </a:prstGeom>
          <a:solidFill>
            <a:srgbClr val="ECF5EF"/>
          </a:solidFill>
          <a:ln w="15875">
            <a:solidFill>
              <a:srgbClr val="2F7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65600" y="1692000"/>
            <a:ext cx="360000" cy="360000"/>
          </a:xfrm>
          <a:prstGeom prst="ellipse">
            <a:avLst/>
          </a:prstGeom>
          <a:solidFill>
            <a:srgbClr val="2F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65600" y="1753200"/>
            <a:ext cx="36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15600" y="1728000"/>
            <a:ext cx="17568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2F7A52"/>
                </a:solidFill>
                <a:latin typeface="맑은 고딕"/>
              </a:rPr>
              <a:t>개입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65600" y="2160000"/>
            <a:ext cx="21888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2B2A28"/>
                </a:solidFill>
                <a:latin typeface="맑은 고딕"/>
              </a:rPr>
              <a:t>배정만 바꿔 본다</a:t>
            </a:r>
          </a:p>
          <a:p>
            <a:pPr algn="l">
              <a:lnSpc>
                <a:spcPct val="140000"/>
              </a:lnSpc>
            </a:pPr>
            <a:r>
              <a:rPr sz="1150" b="0">
                <a:solidFill>
                  <a:srgbClr val="2B2A28"/>
                </a:solidFill>
                <a:latin typeface="맑은 고딕"/>
              </a:rPr>
              <a:t>세계는 그대로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65600" y="2736000"/>
            <a:ext cx="2188800" cy="295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9D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91600" y="2797200"/>
            <a:ext cx="54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2F7A52"/>
                </a:solidFill>
                <a:latin typeface="맑은 고딕"/>
              </a:rPr>
              <a:t>S0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95600" y="2804400"/>
            <a:ext cx="15768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797672"/>
                </a:solidFill>
                <a:latin typeface="맑은 고딕"/>
              </a:rPr>
              <a:t>앱 화면만 본다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65600" y="3077999"/>
            <a:ext cx="2188800" cy="295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9D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91600" y="3139199"/>
            <a:ext cx="54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2F7A52"/>
                </a:solidFill>
                <a:latin typeface="맑은 고딕"/>
              </a:rPr>
              <a:t>S1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95600" y="3146399"/>
            <a:ext cx="15768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797672"/>
                </a:solidFill>
                <a:latin typeface="맑은 고딕"/>
              </a:rPr>
              <a:t>+ 이미 배정된 차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65600" y="3419999"/>
            <a:ext cx="2188800" cy="295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9D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91600" y="3481199"/>
            <a:ext cx="54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2F7A52"/>
                </a:solidFill>
                <a:latin typeface="맑은 고딕"/>
              </a:rPr>
              <a:t>S2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95600" y="3488399"/>
            <a:ext cx="15768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797672"/>
                </a:solidFill>
                <a:latin typeface="맑은 고딕"/>
              </a:rPr>
              <a:t>+ 미래 큐 (예측)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65600" y="3761999"/>
            <a:ext cx="2188800" cy="295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9D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91600" y="3823199"/>
            <a:ext cx="54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2F7A52"/>
                </a:solidFill>
                <a:latin typeface="맑은 고딕"/>
              </a:rPr>
              <a:t>S3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95600" y="3830399"/>
            <a:ext cx="15768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797672"/>
                </a:solidFill>
                <a:latin typeface="맑은 고딕"/>
              </a:rPr>
              <a:t>+ 동시 결정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870400" y="2862000"/>
            <a:ext cx="306000" cy="0"/>
          </a:xfrm>
          <a:prstGeom prst="bentConnector3">
            <a:avLst/>
          </a:prstGeom>
          <a:ln w="25400">
            <a:solidFill>
              <a:srgbClr val="7976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9212400" y="1530000"/>
            <a:ext cx="2548800" cy="2664000"/>
          </a:xfrm>
          <a:prstGeom prst="roundRect">
            <a:avLst>
              <a:gd name="adj" fmla="val 5000"/>
            </a:avLst>
          </a:prstGeom>
          <a:solidFill>
            <a:srgbClr val="ECF2FB"/>
          </a:solidFill>
          <a:ln w="15875">
            <a:solidFill>
              <a:srgbClr val="1C5C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9392400" y="1692000"/>
            <a:ext cx="360000" cy="360000"/>
          </a:xfrm>
          <a:prstGeom prst="ellipse">
            <a:avLst/>
          </a:prstGeom>
          <a:solidFill>
            <a:srgbClr val="1C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392400" y="1753200"/>
            <a:ext cx="36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42400" y="1728000"/>
            <a:ext cx="17568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1C5CAB"/>
                </a:solidFill>
                <a:latin typeface="맑은 고딕"/>
              </a:rPr>
              <a:t>비교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92400" y="2160000"/>
            <a:ext cx="21888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2B2A28"/>
                </a:solidFill>
                <a:latin typeface="맑은 고딕"/>
              </a:rPr>
              <a:t>바닥에서 천장까지</a:t>
            </a:r>
          </a:p>
          <a:p>
            <a:pPr algn="l">
              <a:lnSpc>
                <a:spcPct val="140000"/>
              </a:lnSpc>
            </a:pPr>
            <a:r>
              <a:rPr sz="1150" b="0">
                <a:solidFill>
                  <a:srgbClr val="2B2A28"/>
                </a:solidFill>
                <a:latin typeface="맑은 고딕"/>
              </a:rPr>
              <a:t>몇 % 를 좁혔나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363600" y="2754000"/>
            <a:ext cx="2246400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797672"/>
                </a:solidFill>
                <a:latin typeface="맑은 고딕"/>
              </a:rPr>
              <a:t>S0  바닥          0%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63600" y="2998800"/>
            <a:ext cx="2246400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797672"/>
                </a:solidFill>
                <a:latin typeface="맑은 고딕"/>
              </a:rPr>
              <a:t>S1                 +4.5%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363600" y="3243600"/>
            <a:ext cx="2246400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>
                <a:solidFill>
                  <a:srgbClr val="2B2A28"/>
                </a:solidFill>
                <a:latin typeface="맑은 고딕"/>
              </a:rPr>
              <a:t>S2                +21.0%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363600" y="3488400"/>
            <a:ext cx="2246400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797672"/>
                </a:solidFill>
                <a:latin typeface="맑은 고딕"/>
              </a:rPr>
              <a:t>S3                +22.2%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363600" y="3733199"/>
            <a:ext cx="2246400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>
                <a:solidFill>
                  <a:srgbClr val="2B2A28"/>
                </a:solidFill>
                <a:latin typeface="맑은 고딕"/>
              </a:rPr>
              <a:t>완전예측 벤치마크  27.5%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268800" y="4428000"/>
            <a:ext cx="8582400" cy="558000"/>
          </a:xfrm>
          <a:prstGeom prst="roundRect">
            <a:avLst>
              <a:gd name="adj" fmla="val 5000"/>
            </a:avLst>
          </a:prstGeom>
          <a:solidFill>
            <a:srgbClr val="F6F4F0"/>
          </a:solidFill>
          <a:ln w="15875">
            <a:solidFill>
              <a:srgbClr val="D9D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484800" y="4536000"/>
            <a:ext cx="81504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2B2A28"/>
                </a:solidFill>
                <a:latin typeface="맑은 고딕"/>
              </a:rPr>
              <a:t>★  같은 시드 · 같은 차량 · 같은 충전기 — 엔진만 갈아 끼운다.   그래야 차이를 “정책의 값” 이라고 말할 수 있다</a:t>
            </a:r>
          </a:p>
        </p:txBody>
      </p:sp>
      <p:cxnSp>
        <p:nvCxnSpPr>
          <p:cNvPr id="54" name="Connector 53"/>
          <p:cNvCxnSpPr/>
          <p:nvPr/>
        </p:nvCxnSpPr>
        <p:spPr>
          <a:xfrm flipH="1">
            <a:off x="7560000" y="4986000"/>
            <a:ext cx="2926800" cy="0"/>
          </a:xfrm>
          <a:prstGeom prst="bentConnector3">
            <a:avLst/>
          </a:prstGeom>
          <a:ln w="22225">
            <a:solidFill>
              <a:srgbClr val="2F7A5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6501600" y="5004000"/>
            <a:ext cx="32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F7A52"/>
                </a:solidFill>
                <a:latin typeface="맑은 고딕"/>
              </a:rPr>
              <a:t>다음 칸으로 — 한 번에 한 축만 올린다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32000" y="5382000"/>
            <a:ext cx="25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797672"/>
                </a:solidFill>
                <a:latin typeface="맑은 고딕"/>
              </a:rPr>
              <a:t>관측 산출물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32000" y="5652000"/>
            <a:ext cx="3584400" cy="41399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9D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12000" y="5770800"/>
            <a:ext cx="32244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2B2A28"/>
                </a:solidFill>
                <a:latin typeface="맑은 고딕"/>
              </a:rPr>
              <a:t>2D 히트맵 — 어디가 언제 막히나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304400" y="5652000"/>
            <a:ext cx="3584400" cy="41399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9D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484400" y="5770800"/>
            <a:ext cx="32244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2B2A28"/>
                </a:solidFill>
                <a:latin typeface="맑은 고딕"/>
              </a:rPr>
              <a:t>휴게소별 막대 — 대기 ↑ · 밀어낸 차 ↓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176800" y="5652000"/>
            <a:ext cx="3584400" cy="41399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9D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356800" y="5770800"/>
            <a:ext cx="32244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2B2A28"/>
                </a:solidFill>
                <a:latin typeface="맑은 고딕"/>
              </a:rPr>
              <a:t>3D 코리도 — 단계별 나란히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76000" y="6390000"/>
            <a:ext cx="1116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797672"/>
                </a:solidFill>
                <a:latin typeface="맑은 고딕"/>
              </a:rPr>
              <a:t>원천 데이터는 저장소에 없다 — 코드가 재생성한다 · 세부 파이프라인은 부록 슬라이드 참조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