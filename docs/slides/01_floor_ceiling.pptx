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358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1" d="100"/>
          <a:sy n="91" d="100"/>
        </p:scale>
        <p:origin x="90" y="12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76000" y="360000"/>
            <a:ext cx="11160000" cy="4305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 dirty="0" err="1">
                <a:solidFill>
                  <a:srgbClr val="2B2A28"/>
                </a:solidFill>
                <a:latin typeface="맑은 고딕"/>
              </a:rPr>
              <a:t>엔진</a:t>
            </a:r>
            <a:r>
              <a:rPr sz="2500" b="1" dirty="0">
                <a:solidFill>
                  <a:srgbClr val="2B2A28"/>
                </a:solidFill>
                <a:latin typeface="맑은 고딕"/>
              </a:rPr>
              <a:t> </a:t>
            </a:r>
            <a:r>
              <a:rPr sz="2500" b="1" dirty="0" err="1">
                <a:solidFill>
                  <a:srgbClr val="2B2A28"/>
                </a:solidFill>
                <a:latin typeface="맑은 고딕"/>
              </a:rPr>
              <a:t>성능</a:t>
            </a:r>
            <a:r>
              <a:rPr lang="en-US" sz="2500" b="1" dirty="0">
                <a:solidFill>
                  <a:srgbClr val="2B2A28"/>
                </a:solidFill>
                <a:latin typeface="맑은 고딕"/>
              </a:rPr>
              <a:t> - </a:t>
            </a:r>
            <a:r>
              <a:rPr sz="2500" b="1" dirty="0" err="1">
                <a:solidFill>
                  <a:srgbClr val="2B2A28"/>
                </a:solidFill>
                <a:latin typeface="맑은 고딕"/>
              </a:rPr>
              <a:t>바닥과</a:t>
            </a:r>
            <a:r>
              <a:rPr sz="2500" b="1" dirty="0">
                <a:solidFill>
                  <a:srgbClr val="2B2A28"/>
                </a:solidFill>
                <a:latin typeface="맑은 고딕"/>
              </a:rPr>
              <a:t> </a:t>
            </a:r>
            <a:r>
              <a:rPr sz="2500" b="1" dirty="0" err="1">
                <a:solidFill>
                  <a:srgbClr val="2B2A28"/>
                </a:solidFill>
                <a:latin typeface="맑은 고딕"/>
              </a:rPr>
              <a:t>천장</a:t>
            </a:r>
            <a:endParaRPr sz="2500" b="1" dirty="0">
              <a:solidFill>
                <a:srgbClr val="2B2A28"/>
              </a:solidFill>
              <a:latin typeface="맑은 고딕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76000" y="880153"/>
            <a:ext cx="11160000" cy="28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dirty="0">
                <a:solidFill>
                  <a:srgbClr val="797672"/>
                </a:solidFill>
                <a:latin typeface="맑은 고딕"/>
              </a:rPr>
              <a:t>S0(앱 </a:t>
            </a:r>
            <a:r>
              <a:rPr sz="1300" b="0" dirty="0" err="1">
                <a:solidFill>
                  <a:srgbClr val="797672"/>
                </a:solidFill>
                <a:latin typeface="맑은 고딕"/>
              </a:rPr>
              <a:t>화면만</a:t>
            </a:r>
            <a:r>
              <a:rPr sz="1300" b="0" dirty="0">
                <a:solidFill>
                  <a:srgbClr val="797672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797672"/>
                </a:solidFill>
                <a:latin typeface="맑은 고딕"/>
              </a:rPr>
              <a:t>본다</a:t>
            </a:r>
            <a:r>
              <a:rPr sz="1300" b="0" dirty="0">
                <a:solidFill>
                  <a:srgbClr val="797672"/>
                </a:solidFill>
                <a:latin typeface="맑은 고딕"/>
              </a:rPr>
              <a:t>)를 0%, UE(</a:t>
            </a:r>
            <a:r>
              <a:rPr sz="1300" b="0" dirty="0" err="1">
                <a:solidFill>
                  <a:srgbClr val="797672"/>
                </a:solidFill>
                <a:latin typeface="맑은 고딕"/>
              </a:rPr>
              <a:t>모두가</a:t>
            </a:r>
            <a:r>
              <a:rPr sz="1300" b="0" dirty="0">
                <a:solidFill>
                  <a:srgbClr val="797672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797672"/>
                </a:solidFill>
                <a:latin typeface="맑은 고딕"/>
              </a:rPr>
              <a:t>패턴을</a:t>
            </a:r>
            <a:r>
              <a:rPr sz="1300" b="0" dirty="0">
                <a:solidFill>
                  <a:srgbClr val="797672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797672"/>
                </a:solidFill>
                <a:latin typeface="맑은 고딕"/>
              </a:rPr>
              <a:t>안다</a:t>
            </a:r>
            <a:r>
              <a:rPr sz="1300" b="0" dirty="0">
                <a:solidFill>
                  <a:srgbClr val="797672"/>
                </a:solidFill>
                <a:latin typeface="맑은 고딕"/>
              </a:rPr>
              <a:t>)를 100% 로 </a:t>
            </a:r>
            <a:r>
              <a:rPr sz="1300" b="0" dirty="0" err="1">
                <a:solidFill>
                  <a:srgbClr val="797672"/>
                </a:solidFill>
                <a:latin typeface="맑은 고딕"/>
              </a:rPr>
              <a:t>두고</a:t>
            </a:r>
            <a:r>
              <a:rPr sz="1300" b="0" dirty="0">
                <a:solidFill>
                  <a:srgbClr val="797672"/>
                </a:solidFill>
                <a:latin typeface="맑은 고딕"/>
              </a:rPr>
              <a:t>  “그 </a:t>
            </a:r>
            <a:r>
              <a:rPr sz="1300" b="0" dirty="0" err="1">
                <a:solidFill>
                  <a:srgbClr val="797672"/>
                </a:solidFill>
                <a:latin typeface="맑은 고딕"/>
              </a:rPr>
              <a:t>사이</a:t>
            </a:r>
            <a:r>
              <a:rPr sz="1300" b="0" dirty="0">
                <a:solidFill>
                  <a:srgbClr val="797672"/>
                </a:solidFill>
                <a:latin typeface="맑은 고딕"/>
              </a:rPr>
              <a:t> 몇 % 를 </a:t>
            </a:r>
            <a:r>
              <a:rPr sz="1300" b="0" dirty="0" err="1">
                <a:solidFill>
                  <a:srgbClr val="797672"/>
                </a:solidFill>
                <a:latin typeface="맑은 고딕"/>
              </a:rPr>
              <a:t>좁혔나</a:t>
            </a:r>
            <a:r>
              <a:rPr sz="1300" b="0" dirty="0">
                <a:solidFill>
                  <a:srgbClr val="797672"/>
                </a:solidFill>
                <a:latin typeface="맑은 고딕"/>
              </a:rPr>
              <a:t>” 로 </a:t>
            </a:r>
            <a:r>
              <a:rPr sz="1300" b="0" dirty="0" err="1">
                <a:solidFill>
                  <a:srgbClr val="797672"/>
                </a:solidFill>
                <a:latin typeface="맑은 고딕"/>
              </a:rPr>
              <a:t>잰다</a:t>
            </a:r>
            <a:endParaRPr sz="1300" b="0" dirty="0">
              <a:solidFill>
                <a:srgbClr val="797672"/>
              </a:solidFill>
              <a:latin typeface="맑은 고딕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1655999" y="1494000"/>
            <a:ext cx="0" cy="3780000"/>
          </a:xfrm>
          <a:prstGeom prst="line">
            <a:avLst/>
          </a:prstGeom>
          <a:ln w="12700">
            <a:solidFill>
              <a:srgbClr val="D9D6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88000" y="1728000"/>
            <a:ext cx="1296000" cy="28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50" b="1">
                <a:solidFill>
                  <a:srgbClr val="2B2A28"/>
                </a:solidFill>
                <a:latin typeface="맑은 고딕"/>
              </a:rPr>
              <a:t>S0  바닥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5999" y="1692000"/>
            <a:ext cx="7847999" cy="45000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D9D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785599" y="1742400"/>
            <a:ext cx="1224000" cy="28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C5CAB"/>
                </a:solidFill>
                <a:latin typeface="맑은 고딕"/>
              </a:rPr>
              <a:t>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84000" y="1684800"/>
            <a:ext cx="2376000" cy="251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50" b="1">
                <a:solidFill>
                  <a:srgbClr val="2B2A28"/>
                </a:solidFill>
                <a:latin typeface="맑은 고딕"/>
              </a:rPr>
              <a:t>7,516h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84000" y="1915200"/>
            <a:ext cx="2376000" cy="251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797672"/>
                </a:solidFill>
                <a:latin typeface="맑은 고딕"/>
              </a:rPr>
              <a:t>앱 화면의 대기만 보고 고른다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00" y="2329200"/>
            <a:ext cx="1296000" cy="28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50" b="0">
                <a:solidFill>
                  <a:srgbClr val="2B2A28"/>
                </a:solidFill>
                <a:latin typeface="맑은 고딕"/>
              </a:rPr>
              <a:t>S1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55999" y="2293200"/>
            <a:ext cx="7847999" cy="45000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D9D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655999" y="2293200"/>
            <a:ext cx="353159" cy="450000"/>
          </a:xfrm>
          <a:prstGeom prst="roundRect">
            <a:avLst>
              <a:gd name="adj" fmla="val 6000"/>
            </a:avLst>
          </a:prstGeom>
          <a:solidFill>
            <a:srgbClr val="9EC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102759" y="2343600"/>
            <a:ext cx="1224000" cy="28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C5CAB"/>
                </a:solidFill>
                <a:latin typeface="맑은 고딕"/>
              </a:rPr>
              <a:t>4.5%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84000" y="2286000"/>
            <a:ext cx="2376000" cy="251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50" b="1">
                <a:solidFill>
                  <a:srgbClr val="2B2A28"/>
                </a:solidFill>
                <a:latin typeface="맑은 고딕"/>
              </a:rPr>
              <a:t>7,291h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84000" y="2516400"/>
            <a:ext cx="2376000" cy="251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797672"/>
                </a:solidFill>
                <a:latin typeface="맑은 고딕"/>
              </a:rPr>
              <a:t>+ 이미 배정된 차의 미래 점유 (예약원장)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00" y="2930399"/>
            <a:ext cx="1296000" cy="28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50" b="0">
                <a:solidFill>
                  <a:srgbClr val="2B2A28"/>
                </a:solidFill>
                <a:latin typeface="맑은 고딕"/>
              </a:rPr>
              <a:t>S2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655999" y="2894399"/>
            <a:ext cx="7847999" cy="45000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D9D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655999" y="2894399"/>
            <a:ext cx="1648079" cy="450000"/>
          </a:xfrm>
          <a:prstGeom prst="roundRect">
            <a:avLst>
              <a:gd name="adj" fmla="val 6000"/>
            </a:avLst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397679" y="2944800"/>
            <a:ext cx="1224000" cy="28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C5CAB"/>
                </a:solidFill>
                <a:latin typeface="맑은 고딕"/>
              </a:rPr>
              <a:t>21.0%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84000" y="2887200"/>
            <a:ext cx="2376000" cy="251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50" b="1">
                <a:solidFill>
                  <a:srgbClr val="2B2A28"/>
                </a:solidFill>
                <a:latin typeface="맑은 고딕"/>
              </a:rPr>
              <a:t>6,474h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84000" y="3117599"/>
            <a:ext cx="2376000" cy="251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797672"/>
                </a:solidFill>
                <a:latin typeface="맑은 고딕"/>
              </a:rPr>
              <a:t>+ 내 도착 시점의 미래 큐 (예측)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00" y="3531600"/>
            <a:ext cx="1296000" cy="28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50" b="0">
                <a:solidFill>
                  <a:srgbClr val="2B2A28"/>
                </a:solidFill>
                <a:latin typeface="맑은 고딕"/>
              </a:rPr>
              <a:t>S3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55999" y="3495600"/>
            <a:ext cx="7847999" cy="45000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D9D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1655999" y="3495600"/>
            <a:ext cx="1742255" cy="450000"/>
          </a:xfrm>
          <a:prstGeom prst="roundRect">
            <a:avLst>
              <a:gd name="adj" fmla="val 6000"/>
            </a:avLst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491855" y="3546000"/>
            <a:ext cx="1224000" cy="28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C5CAB"/>
                </a:solidFill>
                <a:latin typeface="맑은 고딕"/>
              </a:rPr>
              <a:t>22.2%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84000" y="3488400"/>
            <a:ext cx="2376000" cy="251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50" b="1">
                <a:solidFill>
                  <a:srgbClr val="2B2A28"/>
                </a:solidFill>
                <a:latin typeface="맑은 고딕"/>
              </a:rPr>
              <a:t>6,418h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84000" y="3718800"/>
            <a:ext cx="2376000" cy="251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797672"/>
                </a:solidFill>
                <a:latin typeface="맑은 고딕"/>
              </a:rPr>
              <a:t>+ 윈도우 안 동시 결정 — +1.2%p, 과녁 아님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000" y="4132799"/>
            <a:ext cx="1296000" cy="28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50" b="0">
                <a:solidFill>
                  <a:srgbClr val="797672"/>
                </a:solidFill>
                <a:latin typeface="맑은 고딕"/>
              </a:rPr>
              <a:t>완전예측  (벤치마크)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655999" y="4096799"/>
            <a:ext cx="7847999" cy="45000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D9D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1655999" y="4096799"/>
            <a:ext cx="2158200" cy="450000"/>
          </a:xfrm>
          <a:prstGeom prst="roundRect">
            <a:avLst>
              <a:gd name="adj" fmla="val 6000"/>
            </a:avLst>
          </a:prstGeom>
          <a:noFill/>
          <a:ln w="22225">
            <a:solidFill>
              <a:srgbClr val="6DA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907799" y="4147200"/>
            <a:ext cx="1224000" cy="28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797672"/>
                </a:solidFill>
                <a:latin typeface="맑은 고딕"/>
              </a:rPr>
              <a:t>27.5%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84000" y="4089600"/>
            <a:ext cx="2376000" cy="251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50" b="1">
                <a:solidFill>
                  <a:srgbClr val="2B2A28"/>
                </a:solidFill>
                <a:latin typeface="맑은 고딕"/>
              </a:rPr>
              <a:t>6,152h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84000" y="4319999"/>
            <a:ext cx="2376000" cy="251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797672"/>
                </a:solidFill>
                <a:latin typeface="맑은 고딕"/>
              </a:rPr>
              <a:t>미래를 다 알아도 여기서 멈춘다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8000" y="4734000"/>
            <a:ext cx="1296000" cy="28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50" b="1">
                <a:solidFill>
                  <a:srgbClr val="2B2A28"/>
                </a:solidFill>
                <a:latin typeface="맑은 고딕"/>
              </a:rPr>
              <a:t>UE  천장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655999" y="4698000"/>
            <a:ext cx="7847999" cy="45000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D9D6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1655999" y="4698000"/>
            <a:ext cx="7847999" cy="450000"/>
          </a:xfrm>
          <a:prstGeom prst="roundRect">
            <a:avLst>
              <a:gd name="adj" fmla="val 6000"/>
            </a:avLst>
          </a:prstGeom>
          <a:solidFill>
            <a:srgbClr val="ECF2FB"/>
          </a:solidFill>
          <a:ln w="22225">
            <a:solidFill>
              <a:srgbClr val="1C5C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597600" y="4748400"/>
            <a:ext cx="1224000" cy="28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C5CAB"/>
                </a:solidFill>
                <a:latin typeface="맑은 고딕"/>
              </a:rPr>
              <a:t>100.0%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84000" y="4690800"/>
            <a:ext cx="2376000" cy="251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50" b="1">
                <a:solidFill>
                  <a:srgbClr val="2B2A28"/>
                </a:solidFill>
                <a:latin typeface="맑은 고딕"/>
              </a:rPr>
              <a:t>2,558h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84000" y="4921200"/>
            <a:ext cx="2376000" cy="251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797672"/>
                </a:solidFill>
                <a:latin typeface="맑은 고딕"/>
              </a:rPr>
              <a:t>모두가 패턴을 완벽히 안다 — 실시간 구현 불가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76000" y="5497200"/>
            <a:ext cx="61588" cy="305066"/>
          </a:xfrm>
          <a:prstGeom prst="rect">
            <a:avLst/>
          </a:prstGeom>
          <a:solidFill>
            <a:srgbClr val="C456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56000" y="5515200"/>
            <a:ext cx="10800000" cy="2870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50" b="1" dirty="0" err="1">
                <a:solidFill>
                  <a:srgbClr val="2B2A28"/>
                </a:solidFill>
                <a:latin typeface="맑은 고딕"/>
              </a:rPr>
              <a:t>우리는</a:t>
            </a:r>
            <a:r>
              <a:rPr sz="1350" b="1" dirty="0">
                <a:solidFill>
                  <a:srgbClr val="2B2A28"/>
                </a:solidFill>
                <a:latin typeface="맑은 고딕"/>
              </a:rPr>
              <a:t> “</a:t>
            </a:r>
            <a:r>
              <a:rPr sz="1350" b="1" dirty="0" err="1">
                <a:solidFill>
                  <a:srgbClr val="2B2A28"/>
                </a:solidFill>
                <a:latin typeface="맑은 고딕"/>
              </a:rPr>
              <a:t>얼마나</a:t>
            </a:r>
            <a:r>
              <a:rPr sz="1350" b="1" dirty="0">
                <a:solidFill>
                  <a:srgbClr val="2B2A28"/>
                </a:solidFill>
                <a:latin typeface="맑은 고딕"/>
              </a:rPr>
              <a:t> </a:t>
            </a:r>
            <a:r>
              <a:rPr sz="1350" b="1" dirty="0" err="1">
                <a:solidFill>
                  <a:srgbClr val="2B2A28"/>
                </a:solidFill>
                <a:latin typeface="맑은 고딕"/>
              </a:rPr>
              <a:t>개선했나</a:t>
            </a:r>
            <a:r>
              <a:rPr sz="1350" b="1" dirty="0">
                <a:solidFill>
                  <a:srgbClr val="2B2A28"/>
                </a:solidFill>
                <a:latin typeface="맑은 고딕"/>
              </a:rPr>
              <a:t>” 가 </a:t>
            </a:r>
            <a:r>
              <a:rPr sz="1350" b="1" dirty="0" err="1">
                <a:solidFill>
                  <a:srgbClr val="2B2A28"/>
                </a:solidFill>
                <a:latin typeface="맑은 고딕"/>
              </a:rPr>
              <a:t>아니라</a:t>
            </a:r>
            <a:r>
              <a:rPr sz="1350" b="1" dirty="0">
                <a:solidFill>
                  <a:srgbClr val="2B2A28"/>
                </a:solidFill>
                <a:latin typeface="맑은 고딕"/>
              </a:rPr>
              <a:t> “</a:t>
            </a:r>
            <a:r>
              <a:rPr sz="1350" b="1" dirty="0" err="1">
                <a:solidFill>
                  <a:srgbClr val="2B2A28"/>
                </a:solidFill>
                <a:latin typeface="맑은 고딕"/>
              </a:rPr>
              <a:t>무엇으로는</a:t>
            </a:r>
            <a:r>
              <a:rPr sz="1350" b="1" dirty="0">
                <a:solidFill>
                  <a:srgbClr val="2B2A28"/>
                </a:solidFill>
                <a:latin typeface="맑은 고딕"/>
              </a:rPr>
              <a:t> </a:t>
            </a:r>
            <a:r>
              <a:rPr sz="1350" b="1" dirty="0" err="1">
                <a:solidFill>
                  <a:srgbClr val="2B2A28"/>
                </a:solidFill>
                <a:latin typeface="맑은 고딕"/>
              </a:rPr>
              <a:t>개선할</a:t>
            </a:r>
            <a:r>
              <a:rPr sz="1350" b="1" dirty="0">
                <a:solidFill>
                  <a:srgbClr val="2B2A28"/>
                </a:solidFill>
                <a:latin typeface="맑은 고딕"/>
              </a:rPr>
              <a:t> 수 </a:t>
            </a:r>
            <a:r>
              <a:rPr sz="1350" b="1" dirty="0" err="1">
                <a:solidFill>
                  <a:srgbClr val="2B2A28"/>
                </a:solidFill>
                <a:latin typeface="맑은 고딕"/>
              </a:rPr>
              <a:t>없는가</a:t>
            </a:r>
            <a:r>
              <a:rPr sz="1350" b="1" dirty="0">
                <a:solidFill>
                  <a:srgbClr val="2B2A28"/>
                </a:solidFill>
                <a:latin typeface="맑은 고딕"/>
              </a:rPr>
              <a:t>” 를 </a:t>
            </a:r>
            <a:r>
              <a:rPr sz="1350" b="1" dirty="0" err="1">
                <a:solidFill>
                  <a:srgbClr val="2B2A28"/>
                </a:solidFill>
                <a:latin typeface="맑은 고딕"/>
              </a:rPr>
              <a:t>숫자로</a:t>
            </a:r>
            <a:r>
              <a:rPr sz="1350" b="1" dirty="0">
                <a:solidFill>
                  <a:srgbClr val="2B2A28"/>
                </a:solidFill>
                <a:latin typeface="맑은 고딕"/>
              </a:rPr>
              <a:t> </a:t>
            </a:r>
            <a:r>
              <a:rPr sz="1350" b="1" dirty="0" err="1">
                <a:solidFill>
                  <a:srgbClr val="2B2A28"/>
                </a:solidFill>
                <a:latin typeface="맑은 고딕"/>
              </a:rPr>
              <a:t>갈랐다</a:t>
            </a:r>
            <a:endParaRPr sz="1350" b="1" dirty="0">
              <a:solidFill>
                <a:srgbClr val="2B2A28"/>
              </a:solidFill>
              <a:latin typeface="맑은 고딕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129</Words>
  <Application>Microsoft Office PowerPoint</Application>
  <PresentationFormat>사용자 지정</PresentationFormat>
  <Paragraphs>27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맑은 고딕</vt:lpstr>
      <vt:lpstr>Arial</vt:lpstr>
      <vt:lpstr>Calibri</vt:lpstr>
      <vt:lpstr>Office Theme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임상준</cp:lastModifiedBy>
  <cp:revision>2</cp:revision>
  <dcterms:created xsi:type="dcterms:W3CDTF">2013-01-27T09:14:16Z</dcterms:created>
  <dcterms:modified xsi:type="dcterms:W3CDTF">2026-10-28T15:28:49Z</dcterms:modified>
  <cp:category/>
</cp:coreProperties>
</file>