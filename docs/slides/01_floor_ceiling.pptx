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1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2B2A28"/>
                </a:solidFill>
                <a:latin typeface="맑은 고딕"/>
              </a:rPr>
              <a:t>엔진 성능을 재는 자 — 바닥과 천장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74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97672"/>
                </a:solidFill>
                <a:latin typeface="맑은 고딕"/>
              </a:rPr>
              <a:t>S0(앱 화면만 본다)를 0%, UE(모두가 패턴을 안다)를 100% 로 두고  “그 사이 몇 % 를 좁혔나” 로 잰다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55999" y="1494000"/>
            <a:ext cx="0" cy="3780000"/>
          </a:xfrm>
          <a:prstGeom prst="line">
            <a:avLst/>
          </a:prstGeom>
          <a:ln w="12700">
            <a:solidFill>
              <a:srgbClr val="D9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8000" y="1728000"/>
            <a:ext cx="12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S0  바닥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5999" y="1692000"/>
            <a:ext cx="7847999" cy="45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5599" y="1742400"/>
            <a:ext cx="1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5CAB"/>
                </a:solidFill>
                <a:latin typeface="맑은 고딕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0" y="16848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7,516h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4000" y="19152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앱 화면의 대기만 보고 고른다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329200"/>
            <a:ext cx="12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2B2A28"/>
                </a:solidFill>
                <a:latin typeface="맑은 고딕"/>
              </a:rP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5999" y="2293200"/>
            <a:ext cx="7847999" cy="45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55999" y="2293200"/>
            <a:ext cx="353159" cy="450000"/>
          </a:xfrm>
          <a:prstGeom prst="roundRect">
            <a:avLst>
              <a:gd name="adj" fmla="val 6000"/>
            </a:avLst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2759" y="2343600"/>
            <a:ext cx="1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5CAB"/>
                </a:solidFill>
                <a:latin typeface="맑은 고딕"/>
              </a:rPr>
              <a:t>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0" y="22860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7,291h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4000" y="25164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+ 이미 배정된 차의 미래 점유 (예약원장)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" y="2930399"/>
            <a:ext cx="12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2B2A28"/>
                </a:solidFill>
                <a:latin typeface="맑은 고딕"/>
              </a:rPr>
              <a:t>S2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55999" y="2894399"/>
            <a:ext cx="7847999" cy="45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55999" y="2894399"/>
            <a:ext cx="1648079" cy="45000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7679" y="2944800"/>
            <a:ext cx="1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5CAB"/>
                </a:solidFill>
                <a:latin typeface="맑은 고딕"/>
              </a:rPr>
              <a:t>21.0%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4000" y="28872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6,474h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4000" y="3117599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+ 내 도착 시점의 미래 큐 (예측)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3531600"/>
            <a:ext cx="12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2B2A28"/>
                </a:solidFill>
                <a:latin typeface="맑은 고딕"/>
              </a:rPr>
              <a:t>S3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55999" y="3495600"/>
            <a:ext cx="7847999" cy="45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55999" y="3495600"/>
            <a:ext cx="1742255" cy="45000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1855" y="3546000"/>
            <a:ext cx="1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C5CAB"/>
                </a:solidFill>
                <a:latin typeface="맑은 고딕"/>
              </a:rPr>
              <a:t>22.2%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4000" y="34884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6,418h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4000" y="37188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+ 윈도우 안 동시 결정 — +1.2%p, 과녁 아님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" y="4132799"/>
            <a:ext cx="12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0">
                <a:solidFill>
                  <a:srgbClr val="797672"/>
                </a:solidFill>
                <a:latin typeface="맑은 고딕"/>
              </a:rPr>
              <a:t>완전예측  (벤치마크)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55999" y="4096799"/>
            <a:ext cx="7847999" cy="45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55999" y="4096799"/>
            <a:ext cx="2158200" cy="4500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6DA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07799" y="4147200"/>
            <a:ext cx="1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797672"/>
                </a:solidFill>
                <a:latin typeface="맑은 고딕"/>
              </a:rPr>
              <a:t>27.5%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4000" y="40896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6,152h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4000" y="4319999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미래를 다 알아도 여기서 멈춘다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00" y="4734000"/>
            <a:ext cx="129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UE  천장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55999" y="4698000"/>
            <a:ext cx="7847999" cy="450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655999" y="4698000"/>
            <a:ext cx="7847999" cy="450000"/>
          </a:xfrm>
          <a:prstGeom prst="roundRect">
            <a:avLst>
              <a:gd name="adj" fmla="val 6000"/>
            </a:avLst>
          </a:prstGeom>
          <a:solidFill>
            <a:srgbClr val="ECF2FB"/>
          </a:solidFill>
          <a:ln w="2222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97600" y="4748400"/>
            <a:ext cx="12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C5CAB"/>
                </a:solidFill>
                <a:latin typeface="맑은 고딕"/>
              </a:rPr>
              <a:t>100.0%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4000" y="46908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2B2A28"/>
                </a:solidFill>
                <a:latin typeface="맑은 고딕"/>
              </a:rPr>
              <a:t>2,558h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4000" y="4921200"/>
            <a:ext cx="237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모두가 패턴을 완벽히 안다 — 실시간 구현 불가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00" y="5497200"/>
            <a:ext cx="36000" cy="792000"/>
          </a:xfrm>
          <a:prstGeom prst="rect">
            <a:avLst/>
          </a:prstGeom>
          <a:solidFill>
            <a:srgbClr val="C45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6000" y="5515200"/>
            <a:ext cx="108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2B2A28"/>
                </a:solidFill>
                <a:latin typeface="맑은 고딕"/>
              </a:rPr>
              <a:t>완전예측이 27.5% 에서 멈춘다  →  남은 72.5%p 는 정보로 못 메운다</a:t>
            </a:r>
          </a:p>
          <a:p>
            <a:pPr algn="l">
              <a:lnSpc>
                <a:spcPct val="160000"/>
              </a:lnSpc>
            </a:pPr>
            <a:r>
              <a:rPr sz="1350" b="1">
                <a:solidFill>
                  <a:srgbClr val="2B2A28"/>
                </a:solidFill>
                <a:latin typeface="맑은 고딕"/>
              </a:rPr>
              <a:t>우리는 “얼마나 개선했나” 가 아니라 “무엇으로는 개선할 수 없는가” 를 숫자로 갈랐다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6372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상행 adoption 시나리오 · 공통 시드 14개 · 대응비교 · 이탈 맞춤   |   총 사회적 비용 = 총 체류 + 이탈 × 120분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