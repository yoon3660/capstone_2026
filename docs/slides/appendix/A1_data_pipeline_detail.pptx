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90" y="1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00" y="342000"/>
            <a:ext cx="1116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2B2A28"/>
                </a:solidFill>
                <a:latin typeface="맑은 고딕"/>
              </a:rPr>
              <a:t>데이터 파이프라인 — 원천에서 3D 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882000"/>
            <a:ext cx="1116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797672"/>
                </a:solidFill>
                <a:latin typeface="맑은 고딕"/>
              </a:rPr>
              <a:t>실측 4종이 들어가 하나의 스냅샷 스트림으로 나오고, 그림은 그 스트림만 읽는다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00" y="1440000"/>
            <a:ext cx="2628000" cy="3708000"/>
          </a:xfrm>
          <a:prstGeom prst="roundRect">
            <a:avLst>
              <a:gd name="adj" fmla="val 5000"/>
            </a:avLst>
          </a:prstGeom>
          <a:solidFill>
            <a:srgbClr val="FBEEEC"/>
          </a:solidFill>
          <a:ln w="15875">
            <a:solidFill>
              <a:srgbClr val="C45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8000" y="1565999"/>
            <a:ext cx="2304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C45646"/>
                </a:solidFill>
                <a:latin typeface="맑은 고딕"/>
              </a:rPr>
              <a:t>① 원천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8000" y="1890000"/>
            <a:ext cx="2304000" cy="66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4000" y="1969200"/>
            <a:ext cx="2051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VDS 센서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2170800"/>
            <a:ext cx="2051999" cy="30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교통량·속도 각 63,360행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설 10일 + 평시 10일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8000" y="26676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4000" y="2746800"/>
            <a:ext cx="2051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TCS 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000" y="2948400"/>
            <a:ext cx="2051999" cy="15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영업소 42곳 통행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8000" y="32940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000" y="3373200"/>
            <a:ext cx="2051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도로중심선 · 표준노드링크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000" y="3574800"/>
            <a:ext cx="2051999" cy="15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4,226점 · 차로수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8000" y="39204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000" y="3999600"/>
            <a:ext cx="2051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환경부 충전이력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000" y="4201200"/>
            <a:ext cx="2051999" cy="15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11,405건 / 29개소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8000" y="45468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4000" y="4626000"/>
            <a:ext cx="2051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충전기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000" y="4827600"/>
            <a:ext cx="2051999" cy="15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휴게소 35곳 · 282기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04000" y="3294000"/>
            <a:ext cx="342000" cy="0"/>
          </a:xfrm>
          <a:prstGeom prst="bentConnector3">
            <a:avLst/>
          </a:prstGeom>
          <a:ln w="22225">
            <a:solidFill>
              <a:srgbClr val="797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546000" y="1440000"/>
            <a:ext cx="2628000" cy="3708000"/>
          </a:xfrm>
          <a:prstGeom prst="roundRect">
            <a:avLst>
              <a:gd name="adj" fmla="val 5000"/>
            </a:avLst>
          </a:prstGeom>
          <a:solidFill>
            <a:srgbClr val="FBF4E6"/>
          </a:solidFill>
          <a:ln w="15875">
            <a:solidFill>
              <a:srgbClr val="A87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07999" y="1565999"/>
            <a:ext cx="2304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8721E"/>
                </a:solidFill>
                <a:latin typeface="맑은 고딕"/>
              </a:rPr>
              <a:t>② 가공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07999" y="18900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34000" y="1969200"/>
            <a:ext cx="2051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build_traffic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34000" y="2170800"/>
            <a:ext cx="2051999" cy="15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conzone 격자 · 결측 54,523 / 8,825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07999" y="25164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34000" y="2595600"/>
            <a:ext cx="2051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build_demand_profile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34000" y="2797200"/>
            <a:ext cx="2051999" cy="15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시간대 진입량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7999" y="31428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34000" y="3222000"/>
            <a:ext cx="2051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build_entry_exit_profile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34000" y="3423600"/>
            <a:ext cx="2051999" cy="15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중간 진입·진출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7999" y="37692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34000" y="3848400"/>
            <a:ext cx="2051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load_centerline · build_route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34000" y="4050000"/>
            <a:ext cx="2051999" cy="15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415.058km · 휴게소 offset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07999" y="43956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34000" y="4474800"/>
            <a:ext cx="2051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seed_cells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34000" y="4676400"/>
            <a:ext cx="2051999" cy="15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CTM 셀 792개 (방향당 396)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73999" y="3294000"/>
            <a:ext cx="342001" cy="0"/>
          </a:xfrm>
          <a:prstGeom prst="bentConnector3">
            <a:avLst/>
          </a:prstGeom>
          <a:ln w="22225">
            <a:solidFill>
              <a:srgbClr val="797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516000" y="1440000"/>
            <a:ext cx="2628000" cy="3708000"/>
          </a:xfrm>
          <a:prstGeom prst="roundRect">
            <a:avLst>
              <a:gd name="adj" fmla="val 5000"/>
            </a:avLst>
          </a:prstGeom>
          <a:solidFill>
            <a:srgbClr val="ECF5EF"/>
          </a:solidFill>
          <a:ln w="15875">
            <a:solidFill>
              <a:srgbClr val="2F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78000" y="1565999"/>
            <a:ext cx="2304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F7A52"/>
                </a:solidFill>
                <a:latin typeface="맑은 고딕"/>
              </a:rPr>
              <a:t>③ 세계 + 엔진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8000" y="18900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04000" y="1969200"/>
            <a:ext cx="2051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synthetic_ev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04000" y="2170800"/>
            <a:ext cx="2051999" cy="15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차종 5종 · SoC · EV 5%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8000" y="25164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04000" y="2595600"/>
            <a:ext cx="2051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run_corridor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04000" y="2797200"/>
            <a:ext cx="2051999" cy="15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Δt 5분 · 큐 규칙 · 충전 물리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78000" y="31428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04000" y="3222000"/>
            <a:ext cx="2051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S0 / S1 / S2 / S3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04000" y="3423600"/>
            <a:ext cx="2051999" cy="15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원장 · 예측 · 동시 결정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78000" y="37692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04000" y="3848400"/>
            <a:ext cx="2051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04000" y="4050000"/>
            <a:ext cx="2051999" cy="15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참고 천장 (반복 균형)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144000" y="3294000"/>
            <a:ext cx="342000" cy="0"/>
          </a:xfrm>
          <a:prstGeom prst="bentConnector3">
            <a:avLst/>
          </a:prstGeom>
          <a:ln w="22225">
            <a:solidFill>
              <a:srgbClr val="797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9486000" y="1440000"/>
            <a:ext cx="2628000" cy="3708000"/>
          </a:xfrm>
          <a:prstGeom prst="roundRect">
            <a:avLst>
              <a:gd name="adj" fmla="val 5000"/>
            </a:avLst>
          </a:prstGeom>
          <a:solidFill>
            <a:srgbClr val="ECF2FB"/>
          </a:solidFill>
          <a:ln w="15875">
            <a:solidFill>
              <a:srgbClr val="1C5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48000" y="1565999"/>
            <a:ext cx="2304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C5CAB"/>
                </a:solidFill>
                <a:latin typeface="맑은 고딕"/>
              </a:rPr>
              <a:t>④ 기록 → 그림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48000" y="18900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774000" y="1969200"/>
            <a:ext cx="2051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charge_event · escape_event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74000" y="2170800"/>
            <a:ext cx="2051999" cy="15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대기 · 종료시각 · 이탈 사유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48000" y="2516400"/>
            <a:ext cx="2304000" cy="66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774000" y="2595600"/>
            <a:ext cx="2051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snapshot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74000" y="2797200"/>
            <a:ext cx="2051999" cy="30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5분 × 휴게소 × 4상태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위경도를 같이 나른다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648000" y="3294000"/>
            <a:ext cx="2304000" cy="5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774000" y="3373200"/>
            <a:ext cx="2051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plot_ladder · plot_station_bars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74000" y="3574800"/>
            <a:ext cx="2051999" cy="15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2D 히트맵 · 휴게소별 막대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48000" y="3920400"/>
            <a:ext cx="2304000" cy="66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774000" y="3999600"/>
            <a:ext cx="2051999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B2A28"/>
                </a:solidFill>
                <a:latin typeface="맑은 고딕"/>
              </a:rPr>
              <a:t>plot_map3d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74000" y="4201200"/>
            <a:ext cx="2051999" cy="30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deck.gl 단일 HTML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797672"/>
                </a:solidFill>
                <a:latin typeface="맑은 고딕"/>
              </a:rPr>
              <a:t>API 키 없음 · 빌드 없음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6000" y="5364000"/>
            <a:ext cx="36000" cy="79200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56000" y="5346000"/>
            <a:ext cx="10872000" cy="496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dirty="0" err="1">
                <a:solidFill>
                  <a:srgbClr val="2B2A28"/>
                </a:solidFill>
                <a:latin typeface="맑은 고딕"/>
              </a:rPr>
              <a:t>원천</a:t>
            </a:r>
            <a:r>
              <a:rPr sz="1150" b="0" dirty="0">
                <a:solidFill>
                  <a:srgbClr val="2B2A28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2B2A28"/>
                </a:solidFill>
                <a:latin typeface="맑은 고딕"/>
              </a:rPr>
              <a:t>데이터는</a:t>
            </a:r>
            <a:r>
              <a:rPr sz="1150" b="0" dirty="0">
                <a:solidFill>
                  <a:srgbClr val="2B2A28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2B2A28"/>
                </a:solidFill>
                <a:latin typeface="맑은 고딕"/>
              </a:rPr>
              <a:t>저장소에</a:t>
            </a:r>
            <a:r>
              <a:rPr sz="1150" b="0" dirty="0">
                <a:solidFill>
                  <a:srgbClr val="2B2A28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2B2A28"/>
                </a:solidFill>
                <a:latin typeface="맑은 고딕"/>
              </a:rPr>
              <a:t>없다</a:t>
            </a:r>
            <a:r>
              <a:rPr sz="1150" b="0" dirty="0">
                <a:solidFill>
                  <a:srgbClr val="2B2A28"/>
                </a:solidFill>
                <a:latin typeface="맑은 고딕"/>
              </a:rPr>
              <a:t> — </a:t>
            </a:r>
            <a:r>
              <a:rPr sz="1150" b="0" dirty="0" err="1">
                <a:solidFill>
                  <a:srgbClr val="2B2A28"/>
                </a:solidFill>
                <a:latin typeface="맑은 고딕"/>
              </a:rPr>
              <a:t>코드가</a:t>
            </a:r>
            <a:r>
              <a:rPr sz="1150" b="0" dirty="0">
                <a:solidFill>
                  <a:srgbClr val="2B2A28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2B2A28"/>
                </a:solidFill>
                <a:latin typeface="맑은 고딕"/>
              </a:rPr>
              <a:t>재생성한다</a:t>
            </a:r>
            <a:r>
              <a:rPr sz="1150" b="0" dirty="0">
                <a:solidFill>
                  <a:srgbClr val="2B2A28"/>
                </a:solidFill>
                <a:latin typeface="맑은 고딕"/>
              </a:rPr>
              <a:t>. </a:t>
            </a:r>
            <a:r>
              <a:rPr sz="1150" b="0" dirty="0" err="1">
                <a:solidFill>
                  <a:srgbClr val="2B2A28"/>
                </a:solidFill>
                <a:latin typeface="맑은 고딕"/>
              </a:rPr>
              <a:t>그래서</a:t>
            </a:r>
            <a:r>
              <a:rPr sz="1150" b="0" dirty="0">
                <a:solidFill>
                  <a:srgbClr val="2B2A28"/>
                </a:solidFill>
                <a:latin typeface="맑은 고딕"/>
              </a:rPr>
              <a:t> 두 PC 의 </a:t>
            </a:r>
            <a:r>
              <a:rPr sz="1150" b="0" dirty="0" err="1">
                <a:solidFill>
                  <a:srgbClr val="2B2A28"/>
                </a:solidFill>
                <a:latin typeface="맑은 고딕"/>
              </a:rPr>
              <a:t>수집본</a:t>
            </a:r>
            <a:r>
              <a:rPr sz="1150" b="0" dirty="0">
                <a:solidFill>
                  <a:srgbClr val="2B2A28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2B2A28"/>
                </a:solidFill>
                <a:latin typeface="맑은 고딕"/>
              </a:rPr>
              <a:t>이름이</a:t>
            </a:r>
            <a:r>
              <a:rPr sz="1150" b="0" dirty="0">
                <a:solidFill>
                  <a:srgbClr val="2B2A28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2B2A28"/>
                </a:solidFill>
                <a:latin typeface="맑은 고딕"/>
              </a:rPr>
              <a:t>달라도</a:t>
            </a:r>
            <a:r>
              <a:rPr sz="1150" b="0" dirty="0">
                <a:solidFill>
                  <a:srgbClr val="2B2A28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2B2A28"/>
                </a:solidFill>
                <a:latin typeface="맑은 고딕"/>
              </a:rPr>
              <a:t>가공</a:t>
            </a:r>
            <a:r>
              <a:rPr sz="1150" b="0" dirty="0">
                <a:solidFill>
                  <a:srgbClr val="2B2A28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2B2A28"/>
                </a:solidFill>
                <a:latin typeface="맑은 고딕"/>
              </a:rPr>
              <a:t>결과가</a:t>
            </a:r>
            <a:r>
              <a:rPr sz="1150" b="0" dirty="0">
                <a:solidFill>
                  <a:srgbClr val="2B2A28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2B2A28"/>
                </a:solidFill>
                <a:latin typeface="맑은 고딕"/>
              </a:rPr>
              <a:t>같다</a:t>
            </a:r>
            <a:r>
              <a:rPr sz="1150" b="0" dirty="0">
                <a:solidFill>
                  <a:srgbClr val="2B2A28"/>
                </a:solidFill>
                <a:latin typeface="맑은 고딕"/>
              </a:rPr>
              <a:t> (94개 </a:t>
            </a:r>
            <a:r>
              <a:rPr sz="1150" b="0" dirty="0" err="1">
                <a:solidFill>
                  <a:srgbClr val="2B2A28"/>
                </a:solidFill>
                <a:latin typeface="맑은 고딕"/>
              </a:rPr>
              <a:t>검사로</a:t>
            </a:r>
            <a:r>
              <a:rPr sz="1150" b="0" dirty="0">
                <a:solidFill>
                  <a:srgbClr val="2B2A28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2B2A28"/>
                </a:solidFill>
                <a:latin typeface="맑은 고딕"/>
              </a:rPr>
              <a:t>확인</a:t>
            </a:r>
            <a:r>
              <a:rPr sz="1150" b="0" dirty="0">
                <a:solidFill>
                  <a:srgbClr val="2B2A28"/>
                </a:solidFill>
                <a:latin typeface="맑은 고딕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sz="1150" b="0" dirty="0" err="1">
                <a:solidFill>
                  <a:srgbClr val="2B2A28"/>
                </a:solidFill>
                <a:latin typeface="맑은 고딕"/>
              </a:rPr>
              <a:t>그림은</a:t>
            </a:r>
            <a:r>
              <a:rPr sz="1150" b="0" dirty="0">
                <a:solidFill>
                  <a:srgbClr val="2B2A28"/>
                </a:solidFill>
                <a:latin typeface="맑은 고딕"/>
              </a:rPr>
              <a:t> ④ 의 </a:t>
            </a:r>
            <a:r>
              <a:rPr sz="1150" b="0" dirty="0" err="1">
                <a:solidFill>
                  <a:srgbClr val="2B2A28"/>
                </a:solidFill>
                <a:latin typeface="맑은 고딕"/>
              </a:rPr>
              <a:t>스냅샷</a:t>
            </a:r>
            <a:r>
              <a:rPr sz="1150" b="0" dirty="0">
                <a:solidFill>
                  <a:srgbClr val="2B2A28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2B2A28"/>
                </a:solidFill>
                <a:latin typeface="맑은 고딕"/>
              </a:rPr>
              <a:t>스트림만</a:t>
            </a:r>
            <a:r>
              <a:rPr sz="1150" b="0" dirty="0">
                <a:solidFill>
                  <a:srgbClr val="2B2A28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2B2A28"/>
                </a:solidFill>
                <a:latin typeface="맑은 고딕"/>
              </a:rPr>
              <a:t>읽는다</a:t>
            </a:r>
            <a:r>
              <a:rPr sz="1150" b="0" dirty="0">
                <a:solidFill>
                  <a:srgbClr val="2B2A28"/>
                </a:solidFill>
                <a:latin typeface="맑은 고딕"/>
              </a:rPr>
              <a:t>. </a:t>
            </a:r>
            <a:r>
              <a:rPr sz="1150" b="0" dirty="0" err="1">
                <a:solidFill>
                  <a:srgbClr val="2B2A28"/>
                </a:solidFill>
                <a:latin typeface="맑은 고딕"/>
              </a:rPr>
              <a:t>엔진을</a:t>
            </a:r>
            <a:r>
              <a:rPr sz="1150" b="0" dirty="0">
                <a:solidFill>
                  <a:srgbClr val="2B2A28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2B2A28"/>
                </a:solidFill>
                <a:latin typeface="맑은 고딕"/>
              </a:rPr>
              <a:t>임포트하면</a:t>
            </a:r>
            <a:r>
              <a:rPr sz="1150" b="0" dirty="0">
                <a:solidFill>
                  <a:srgbClr val="2B2A28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2B2A28"/>
                </a:solidFill>
                <a:latin typeface="맑은 고딕"/>
              </a:rPr>
              <a:t>테스트가</a:t>
            </a:r>
            <a:r>
              <a:rPr sz="1150" b="0" dirty="0">
                <a:solidFill>
                  <a:srgbClr val="2B2A28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2B2A28"/>
                </a:solidFill>
                <a:latin typeface="맑은 고딕"/>
              </a:rPr>
              <a:t>막는다</a:t>
            </a:r>
            <a:endParaRPr sz="1150" b="0" dirty="0">
              <a:solidFill>
                <a:srgbClr val="2B2A28"/>
              </a:solidFill>
              <a:latin typeface="맑은 고딕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76000" y="6390000"/>
            <a:ext cx="1116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dirty="0">
                <a:solidFill>
                  <a:srgbClr val="797672"/>
                </a:solidFill>
                <a:latin typeface="맑은 고딕"/>
              </a:rPr>
              <a:t>data/raw · data/processed 는 Git </a:t>
            </a:r>
            <a:r>
              <a:rPr sz="900" b="0" dirty="0" err="1">
                <a:solidFill>
                  <a:srgbClr val="797672"/>
                </a:solidFill>
                <a:latin typeface="맑은 고딕"/>
              </a:rPr>
              <a:t>비추적</a:t>
            </a:r>
            <a:r>
              <a:rPr sz="900" b="0" dirty="0">
                <a:solidFill>
                  <a:srgbClr val="797672"/>
                </a:solidFill>
                <a:latin typeface="맑은 고딕"/>
              </a:rPr>
              <a:t> · </a:t>
            </a:r>
            <a:r>
              <a:rPr sz="900" b="0" dirty="0" err="1">
                <a:solidFill>
                  <a:srgbClr val="797672"/>
                </a:solidFill>
                <a:latin typeface="맑은 고딕"/>
              </a:rPr>
              <a:t>스크립트로</a:t>
            </a:r>
            <a:r>
              <a:rPr sz="900" b="0" dirty="0">
                <a:solidFill>
                  <a:srgbClr val="797672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797672"/>
                </a:solidFill>
                <a:latin typeface="맑은 고딕"/>
              </a:rPr>
              <a:t>재생성</a:t>
            </a:r>
            <a:r>
              <a:rPr sz="900" b="0" dirty="0">
                <a:solidFill>
                  <a:srgbClr val="797672"/>
                </a:solidFill>
                <a:latin typeface="맑은 고딕"/>
              </a:rPr>
              <a:t> · </a:t>
            </a:r>
            <a:r>
              <a:rPr sz="900" b="0" dirty="0" err="1">
                <a:solidFill>
                  <a:srgbClr val="797672"/>
                </a:solidFill>
                <a:latin typeface="맑은 고딕"/>
              </a:rPr>
              <a:t>run_id</a:t>
            </a:r>
            <a:r>
              <a:rPr sz="900" b="0" dirty="0">
                <a:solidFill>
                  <a:srgbClr val="797672"/>
                </a:solidFill>
                <a:latin typeface="맑은 고딕"/>
              </a:rPr>
              <a:t> 가 </a:t>
            </a:r>
            <a:r>
              <a:rPr sz="900" b="0" dirty="0" err="1">
                <a:solidFill>
                  <a:srgbClr val="797672"/>
                </a:solidFill>
                <a:latin typeface="맑은 고딕"/>
              </a:rPr>
              <a:t>세계를</a:t>
            </a:r>
            <a:r>
              <a:rPr sz="900" b="0" dirty="0">
                <a:solidFill>
                  <a:srgbClr val="797672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797672"/>
                </a:solidFill>
                <a:latin typeface="맑은 고딕"/>
              </a:rPr>
              <a:t>식별하지</a:t>
            </a:r>
            <a:r>
              <a:rPr sz="900" b="0" dirty="0">
                <a:solidFill>
                  <a:srgbClr val="797672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797672"/>
                </a:solidFill>
                <a:latin typeface="맑은 고딕"/>
              </a:rPr>
              <a:t>못하므로</a:t>
            </a:r>
            <a:r>
              <a:rPr sz="900" b="0" dirty="0">
                <a:solidFill>
                  <a:srgbClr val="797672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797672"/>
                </a:solidFill>
                <a:latin typeface="맑은 고딕"/>
              </a:rPr>
              <a:t>params_json</a:t>
            </a:r>
            <a:r>
              <a:rPr sz="900" b="0" dirty="0">
                <a:solidFill>
                  <a:srgbClr val="797672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797672"/>
                </a:solidFill>
                <a:latin typeface="맑은 고딕"/>
              </a:rPr>
              <a:t>으로</a:t>
            </a:r>
            <a:r>
              <a:rPr sz="900" b="0" dirty="0">
                <a:solidFill>
                  <a:srgbClr val="797672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797672"/>
                </a:solidFill>
                <a:latin typeface="맑은 고딕"/>
              </a:rPr>
              <a:t>검사한다</a:t>
            </a:r>
            <a:endParaRPr sz="900" b="0" dirty="0">
              <a:solidFill>
                <a:srgbClr val="797672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281</Words>
  <Application>Microsoft Office PowerPoint</Application>
  <PresentationFormat>사용자 지정</PresentationFormat>
  <Paragraphs>48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임상준</cp:lastModifiedBy>
  <cp:revision>2</cp:revision>
  <dcterms:created xsi:type="dcterms:W3CDTF">2013-01-27T09:14:16Z</dcterms:created>
  <dcterms:modified xsi:type="dcterms:W3CDTF">2026-10-28T15:30:15Z</dcterms:modified>
  <cp:category/>
</cp:coreProperties>
</file>